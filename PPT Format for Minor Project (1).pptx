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4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5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6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369" r:id="rId3"/>
    <p:sldId id="370" r:id="rId4"/>
    <p:sldId id="374" r:id="rId5"/>
    <p:sldId id="350" r:id="rId6"/>
    <p:sldId id="375" r:id="rId7"/>
    <p:sldId id="379" r:id="rId8"/>
    <p:sldId id="391" r:id="rId9"/>
    <p:sldId id="411" r:id="rId10"/>
    <p:sldId id="355" r:id="rId11"/>
    <p:sldId id="410" r:id="rId12"/>
    <p:sldId id="407" r:id="rId13"/>
    <p:sldId id="409" r:id="rId14"/>
    <p:sldId id="395" r:id="rId15"/>
    <p:sldId id="360" r:id="rId16"/>
    <p:sldId id="408" r:id="rId17"/>
    <p:sldId id="361" r:id="rId18"/>
    <p:sldId id="363" r:id="rId19"/>
    <p:sldId id="404" r:id="rId20"/>
    <p:sldId id="405" r:id="rId21"/>
    <p:sldId id="365" r:id="rId22"/>
    <p:sldId id="406" r:id="rId23"/>
    <p:sldId id="403" r:id="rId24"/>
    <p:sldId id="349" r:id="rId25"/>
    <p:sldId id="39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 autoAdjust="0"/>
    <p:restoredTop sz="94624" autoAdjust="0"/>
  </p:normalViewPr>
  <p:slideViewPr>
    <p:cSldViewPr snapToGrid="0" showGuides="1">
      <p:cViewPr varScale="1">
        <p:scale>
          <a:sx n="78" d="100"/>
          <a:sy n="78" d="100"/>
        </p:scale>
        <p:origin x="854" y="43"/>
      </p:cViewPr>
      <p:guideLst>
        <p:guide orient="horz" pos="2160"/>
        <p:guide pos="3776"/>
      </p:guideLst>
    </p:cSldViewPr>
  </p:slideViewPr>
  <p:outlineViewPr>
    <p:cViewPr>
      <p:scale>
        <a:sx n="33" d="100"/>
        <a:sy n="33" d="100"/>
      </p:scale>
      <p:origin x="72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43C61-AE97-420E-9123-E403B041A58C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0FDDB-46BF-4186-B0EA-9945E8BFD7F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I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BD72AF-E637-44D3-A05D-2D58118EC657}" type="slidenum">
              <a:rPr lang="en-IN" smtClean="0">
                <a:solidFill>
                  <a:prstClr val="black"/>
                </a:solidFill>
              </a:rPr>
              <a:t>1</a:t>
            </a:fld>
            <a:endParaRPr lang="en-I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BD166-435B-457F-9F3D-68F7156F6EE8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buNone/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JU_PPT-template_option1b.jp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1097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1200" y="1371601"/>
            <a:ext cx="105664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>
    <p:fade/>
  </p:transition>
  <p:hf sldNum="0" hdr="0" ftr="0" dt="0"/>
  <p:txStyles>
    <p:titleStyle>
      <a:lvl1pPr algn="l" defTabSz="913130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defTabSz="91313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defTabSz="91313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defTabSz="91313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defTabSz="91313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defTabSz="91313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defTabSz="91313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defTabSz="91313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defTabSz="91313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341630" indent="-341630" algn="l" defTabSz="913130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1680" indent="-28448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1730" indent="-22733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Times New Roman" panose="02020603050405020304" pitchFamily="18" charset="0"/>
        </a:defRPr>
      </a:lvl3pPr>
      <a:lvl4pPr marL="1598930" indent="-22733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Times New Roman" panose="02020603050405020304" pitchFamily="18" charset="0"/>
        </a:defRPr>
      </a:lvl4pPr>
      <a:lvl5pPr marL="2056130" indent="-22733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26" Type="http://schemas.openxmlformats.org/officeDocument/2006/relationships/tags" Target="../tags/tag31.xml"/><Relationship Id="rId3" Type="http://schemas.openxmlformats.org/officeDocument/2006/relationships/tags" Target="../tags/tag8.xml"/><Relationship Id="rId21" Type="http://schemas.openxmlformats.org/officeDocument/2006/relationships/tags" Target="../tags/tag26.xml"/><Relationship Id="rId34" Type="http://schemas.openxmlformats.org/officeDocument/2006/relationships/notesSlide" Target="../notesSlides/notesSlide3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3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0" Type="http://schemas.openxmlformats.org/officeDocument/2006/relationships/tags" Target="../tags/tag25.xml"/><Relationship Id="rId29" Type="http://schemas.openxmlformats.org/officeDocument/2006/relationships/tags" Target="../tags/tag34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32" Type="http://schemas.openxmlformats.org/officeDocument/2006/relationships/tags" Target="../tags/tag37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28" Type="http://schemas.openxmlformats.org/officeDocument/2006/relationships/tags" Target="../tags/tag33.xml"/><Relationship Id="rId10" Type="http://schemas.openxmlformats.org/officeDocument/2006/relationships/tags" Target="../tags/tag15.xml"/><Relationship Id="rId19" Type="http://schemas.openxmlformats.org/officeDocument/2006/relationships/tags" Target="../tags/tag24.xml"/><Relationship Id="rId31" Type="http://schemas.openxmlformats.org/officeDocument/2006/relationships/tags" Target="../tags/tag36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Relationship Id="rId22" Type="http://schemas.openxmlformats.org/officeDocument/2006/relationships/tags" Target="../tags/tag27.xml"/><Relationship Id="rId27" Type="http://schemas.openxmlformats.org/officeDocument/2006/relationships/tags" Target="../tags/tag32.xml"/><Relationship Id="rId30" Type="http://schemas.openxmlformats.org/officeDocument/2006/relationships/tags" Target="../tags/tag35.xml"/><Relationship Id="rId8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5" Type="http://schemas.openxmlformats.org/officeDocument/2006/relationships/tags" Target="../tags/tag42.xml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notesSlide" Target="../notesSlides/notesSlide5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54.xml"/><Relationship Id="rId10" Type="http://schemas.openxmlformats.org/officeDocument/2006/relationships/tags" Target="../tags/tag59.xml"/><Relationship Id="rId4" Type="http://schemas.openxmlformats.org/officeDocument/2006/relationships/tags" Target="../tags/tag53.xml"/><Relationship Id="rId9" Type="http://schemas.openxmlformats.org/officeDocument/2006/relationships/tags" Target="../tags/tag5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10" Type="http://schemas.openxmlformats.org/officeDocument/2006/relationships/notesSlide" Target="../notesSlides/notesSlide6.xml"/><Relationship Id="rId4" Type="http://schemas.openxmlformats.org/officeDocument/2006/relationships/tags" Target="../tags/tag63.xml"/><Relationship Id="rId9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12" Type="http://schemas.openxmlformats.org/officeDocument/2006/relationships/notesSlide" Target="../notesSlides/notesSlide7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72.xml"/><Relationship Id="rId10" Type="http://schemas.openxmlformats.org/officeDocument/2006/relationships/tags" Target="../tags/tag77.xml"/><Relationship Id="rId4" Type="http://schemas.openxmlformats.org/officeDocument/2006/relationships/tags" Target="../tags/tag71.xml"/><Relationship Id="rId9" Type="http://schemas.openxmlformats.org/officeDocument/2006/relationships/tags" Target="../tags/tag7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16-JU-Buildi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40"/>
          <a:stretch>
            <a:fillRect/>
          </a:stretch>
        </p:blipFill>
        <p:spPr bwMode="auto">
          <a:xfrm>
            <a:off x="222209" y="5053653"/>
            <a:ext cx="9849938" cy="1434528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0" y="1266860"/>
            <a:ext cx="12192000" cy="42858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4000" b="1" dirty="0">
                <a:solidFill>
                  <a:srgbClr val="FF0000"/>
                </a:solidFill>
              </a:rPr>
              <a:t>Major Project Presentation</a:t>
            </a:r>
            <a:endParaRPr lang="en-US" sz="40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IN" altLang="en-US" sz="1800" b="1" dirty="0">
                <a:solidFill>
                  <a:schemeClr val="tx1"/>
                </a:solidFill>
              </a:rPr>
              <a:t>On</a:t>
            </a:r>
            <a:r>
              <a:rPr lang="en-IN" altLang="en-US" sz="1400" b="1" dirty="0">
                <a:solidFill>
                  <a:schemeClr val="tx1"/>
                </a:solidFill>
              </a:rPr>
              <a:t> </a:t>
            </a: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IN" altLang="en-US" b="1" dirty="0">
                <a:solidFill>
                  <a:schemeClr val="tx1"/>
                </a:solidFill>
              </a:rPr>
              <a:t>“</a:t>
            </a:r>
            <a:r>
              <a:rPr lang="en-US" altLang="en-US" b="1" dirty="0" err="1">
                <a:solidFill>
                  <a:schemeClr val="tx1"/>
                </a:solidFill>
              </a:rPr>
              <a:t>DigiMitra</a:t>
            </a:r>
            <a:r>
              <a:rPr lang="en-IN" altLang="en-US" b="1" dirty="0">
                <a:solidFill>
                  <a:schemeClr val="tx1"/>
                </a:solidFill>
              </a:rPr>
              <a:t>”</a:t>
            </a:r>
          </a:p>
          <a:p>
            <a:pPr>
              <a:defRPr/>
            </a:pPr>
            <a:r>
              <a:rPr lang="en-IN" sz="1800" dirty="0">
                <a:solidFill>
                  <a:schemeClr val="tx1"/>
                </a:solidFill>
              </a:rPr>
              <a:t>AI-Powered Digital Transformation Platform for Local Micro-Businesses</a:t>
            </a:r>
            <a:endParaRPr lang="en-IN" altLang="en-US" sz="18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8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554305" y="3308447"/>
            <a:ext cx="3192624" cy="2183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1680" indent="-284480">
              <a:spcBef>
                <a:spcPct val="2000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1730" indent="-22733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 marL="1598930" indent="-22733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 marL="2056130" indent="-22733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5pPr>
            <a:lvl6pPr marL="2513330" indent="-2273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6pPr>
            <a:lvl7pPr marL="2970530" indent="-2273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7pPr>
            <a:lvl8pPr marL="3427730" indent="-2273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8pPr>
            <a:lvl9pPr marL="3884930" indent="-2273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9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00" b="1" dirty="0">
                <a:solidFill>
                  <a:prstClr val="black"/>
                </a:solidFill>
              </a:rPr>
              <a:t>Presented By:-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00" b="1" dirty="0">
                <a:solidFill>
                  <a:prstClr val="black"/>
                </a:solidFill>
              </a:rPr>
              <a:t>Chahat Modi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00" b="1" dirty="0">
                <a:solidFill>
                  <a:prstClr val="black"/>
                </a:solidFill>
              </a:rPr>
              <a:t>23BCON0775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38254" y="6425551"/>
            <a:ext cx="27154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</a:p>
          <a:p>
            <a:pPr algn="ctr"/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905565" y="3651803"/>
            <a:ext cx="3064225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b="1" dirty="0"/>
          </a:p>
          <a:p>
            <a:endParaRPr lang="en-US" sz="2000" b="1" dirty="0"/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Guide:-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Gaurav Kumar Sharma</a:t>
            </a:r>
            <a:b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96594" y="322225"/>
            <a:ext cx="748145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</a:t>
            </a:r>
          </a:p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</a:p>
        </p:txBody>
      </p:sp>
      <p:pic>
        <p:nvPicPr>
          <p:cNvPr id="13" name="Picture 12" descr="C:\Documents and Settings\Administrator\Local Settings\Temp\JECRC_University_Logo_in_Horizontal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9024" y="3400429"/>
            <a:ext cx="3716594" cy="189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Contents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/>
              <a:t>Introduction </a:t>
            </a:r>
          </a:p>
          <a:p>
            <a:r>
              <a:rPr lang="en-US" sz="1800"/>
              <a:t>Problem Statement</a:t>
            </a:r>
          </a:p>
          <a:p>
            <a:r>
              <a:rPr lang="en-US" sz="1800"/>
              <a:t>Objectives </a:t>
            </a:r>
          </a:p>
          <a:p>
            <a:r>
              <a:rPr lang="en-US" sz="1800"/>
              <a:t>Literature Review</a:t>
            </a:r>
          </a:p>
          <a:p>
            <a:r>
              <a:rPr lang="en-US" sz="1800"/>
              <a:t>Functional Requirements</a:t>
            </a:r>
          </a:p>
          <a:p>
            <a:r>
              <a:rPr lang="en-US" sz="1800"/>
              <a:t>Non-Funtional Requirements</a:t>
            </a:r>
          </a:p>
          <a:p>
            <a:r>
              <a:rPr lang="en-US" sz="1800"/>
              <a:t>System Architecture</a:t>
            </a:r>
          </a:p>
          <a:p>
            <a:r>
              <a:rPr lang="en-US" sz="1800"/>
              <a:t>Data Flow Diagram </a:t>
            </a:r>
          </a:p>
          <a:p>
            <a:r>
              <a:rPr lang="en-US" sz="1800"/>
              <a:t>ER Diagram</a:t>
            </a:r>
          </a:p>
          <a:p>
            <a:r>
              <a:rPr lang="en-US" sz="1800"/>
              <a:t>Methodoology</a:t>
            </a:r>
          </a:p>
          <a:p>
            <a:r>
              <a:rPr lang="en-US" altLang="en-US" sz="1800"/>
              <a:t>Sentiment Analysis Logic</a:t>
            </a:r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>
                <a:sym typeface="+mn-ea"/>
              </a:rPr>
              <a:t>Algorithm &amp; SQL Mapping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Tools &amp; Technologies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Project Modules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Testing &amp; Verification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Results &amp; Output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Roles &amp; Responsibilities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Conclusion &amp; Future Scope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References</a:t>
            </a:r>
            <a:endParaRPr lang="en-US" altLang="en-US" sz="1800"/>
          </a:p>
          <a:p>
            <a:endParaRPr lang="en-US" sz="180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238125"/>
            <a:ext cx="10972800" cy="914400"/>
          </a:xfrm>
        </p:spPr>
        <p:txBody>
          <a:bodyPr wrap="square">
            <a:normAutofit/>
          </a:bodyPr>
          <a:lstStyle/>
          <a:p>
            <a:pPr algn="ctr"/>
            <a:r>
              <a:rPr lang="en-US" spc="0" dirty="0">
                <a:latin typeface="+mj-lt"/>
              </a:rPr>
              <a:t>Introduction</a:t>
            </a:r>
          </a:p>
        </p:txBody>
      </p:sp>
      <p:sp>
        <p:nvSpPr>
          <p:cNvPr id="3" name="任意多边形: 形状 17"/>
          <p:cNvSpPr/>
          <p:nvPr>
            <p:custDataLst>
              <p:tags r:id="rId3"/>
            </p:custDataLst>
          </p:nvPr>
        </p:nvSpPr>
        <p:spPr>
          <a:xfrm>
            <a:off x="6452235" y="1228090"/>
            <a:ext cx="5219065" cy="5194935"/>
          </a:xfrm>
          <a:custGeom>
            <a:avLst/>
            <a:gdLst>
              <a:gd name="connsiteX0" fmla="*/ 4776390 w 4954194"/>
              <a:gd name="connsiteY0" fmla="*/ 0 h 3519374"/>
              <a:gd name="connsiteX1" fmla="*/ 1275648 w 4954194"/>
              <a:gd name="connsiteY1" fmla="*/ 0 h 3519374"/>
              <a:gd name="connsiteX2" fmla="*/ 1130414 w 4954194"/>
              <a:gd name="connsiteY2" fmla="*/ 75212 h 3519374"/>
              <a:gd name="connsiteX3" fmla="*/ 12980 w 4954194"/>
              <a:gd name="connsiteY3" fmla="*/ 1657097 h 3519374"/>
              <a:gd name="connsiteX4" fmla="*/ 12971 w 4954194"/>
              <a:gd name="connsiteY4" fmla="*/ 1862264 h 3519374"/>
              <a:gd name="connsiteX5" fmla="*/ 1130405 w 4954194"/>
              <a:gd name="connsiteY5" fmla="*/ 3444150 h 3519374"/>
              <a:gd name="connsiteX6" fmla="*/ 1275627 w 4954194"/>
              <a:gd name="connsiteY6" fmla="*/ 3519374 h 3519374"/>
              <a:gd name="connsiteX7" fmla="*/ 4776369 w 4954194"/>
              <a:gd name="connsiteY7" fmla="*/ 3519374 h 3519374"/>
              <a:gd name="connsiteX8" fmla="*/ 4954194 w 4954194"/>
              <a:gd name="connsiteY8" fmla="*/ 3341570 h 3519374"/>
              <a:gd name="connsiteX9" fmla="*/ 4954194 w 4954194"/>
              <a:gd name="connsiteY9" fmla="*/ 177754 h 3519374"/>
              <a:gd name="connsiteX10" fmla="*/ 4776390 w 4954194"/>
              <a:gd name="connsiteY10" fmla="*/ 0 h 3519374"/>
              <a:gd name="connsiteX0-1" fmla="*/ 4776390 w 4954194"/>
              <a:gd name="connsiteY0-2" fmla="*/ 0 h 3519374"/>
              <a:gd name="connsiteX1-3" fmla="*/ 1275648 w 4954194"/>
              <a:gd name="connsiteY1-4" fmla="*/ 0 h 3519374"/>
              <a:gd name="connsiteX2-5" fmla="*/ 1130414 w 4954194"/>
              <a:gd name="connsiteY2-6" fmla="*/ 75212 h 3519374"/>
              <a:gd name="connsiteX3-7" fmla="*/ 12980 w 4954194"/>
              <a:gd name="connsiteY3-8" fmla="*/ 1657097 h 3519374"/>
              <a:gd name="connsiteX4-9" fmla="*/ 12971 w 4954194"/>
              <a:gd name="connsiteY4-10" fmla="*/ 1862264 h 3519374"/>
              <a:gd name="connsiteX5-11" fmla="*/ 1130405 w 4954194"/>
              <a:gd name="connsiteY5-12" fmla="*/ 3444150 h 3519374"/>
              <a:gd name="connsiteX6-13" fmla="*/ 1275627 w 4954194"/>
              <a:gd name="connsiteY6-14" fmla="*/ 3519374 h 3519374"/>
              <a:gd name="connsiteX7-15" fmla="*/ 4776369 w 4954194"/>
              <a:gd name="connsiteY7-16" fmla="*/ 3519374 h 3519374"/>
              <a:gd name="connsiteX8-17" fmla="*/ 4954194 w 4954194"/>
              <a:gd name="connsiteY8-18" fmla="*/ 3341570 h 3519374"/>
              <a:gd name="connsiteX9-19" fmla="*/ 4954194 w 4954194"/>
              <a:gd name="connsiteY9-20" fmla="*/ 177754 h 3519374"/>
              <a:gd name="connsiteX10-21" fmla="*/ 4776390 w 4954194"/>
              <a:gd name="connsiteY10-22" fmla="*/ 0 h 3519374"/>
              <a:gd name="connsiteX0-23" fmla="*/ 4776390 w 4954194"/>
              <a:gd name="connsiteY0-24" fmla="*/ 0 h 3519374"/>
              <a:gd name="connsiteX1-25" fmla="*/ 1275648 w 4954194"/>
              <a:gd name="connsiteY1-26" fmla="*/ 0 h 3519374"/>
              <a:gd name="connsiteX2-27" fmla="*/ 1130414 w 4954194"/>
              <a:gd name="connsiteY2-28" fmla="*/ 75212 h 3519374"/>
              <a:gd name="connsiteX3-29" fmla="*/ 12980 w 4954194"/>
              <a:gd name="connsiteY3-30" fmla="*/ 1657097 h 3519374"/>
              <a:gd name="connsiteX4-31" fmla="*/ 12971 w 4954194"/>
              <a:gd name="connsiteY4-32" fmla="*/ 1862264 h 3519374"/>
              <a:gd name="connsiteX5-33" fmla="*/ 1130405 w 4954194"/>
              <a:gd name="connsiteY5-34" fmla="*/ 3444150 h 3519374"/>
              <a:gd name="connsiteX6-35" fmla="*/ 1275627 w 4954194"/>
              <a:gd name="connsiteY6-36" fmla="*/ 3519374 h 3519374"/>
              <a:gd name="connsiteX7-37" fmla="*/ 4776369 w 4954194"/>
              <a:gd name="connsiteY7-38" fmla="*/ 3519374 h 3519374"/>
              <a:gd name="connsiteX8-39" fmla="*/ 4954194 w 4954194"/>
              <a:gd name="connsiteY8-40" fmla="*/ 3341570 h 3519374"/>
              <a:gd name="connsiteX9-41" fmla="*/ 4954194 w 4954194"/>
              <a:gd name="connsiteY9-42" fmla="*/ 177754 h 3519374"/>
              <a:gd name="connsiteX10-43" fmla="*/ 4776390 w 4954194"/>
              <a:gd name="connsiteY10-44" fmla="*/ 0 h 3519374"/>
              <a:gd name="connsiteX0-45" fmla="*/ 4776390 w 4954194"/>
              <a:gd name="connsiteY0-46" fmla="*/ 0 h 3519374"/>
              <a:gd name="connsiteX1-47" fmla="*/ 1275648 w 4954194"/>
              <a:gd name="connsiteY1-48" fmla="*/ 0 h 3519374"/>
              <a:gd name="connsiteX2-49" fmla="*/ 1130414 w 4954194"/>
              <a:gd name="connsiteY2-50" fmla="*/ 75212 h 3519374"/>
              <a:gd name="connsiteX3-51" fmla="*/ 12980 w 4954194"/>
              <a:gd name="connsiteY3-52" fmla="*/ 1657097 h 3519374"/>
              <a:gd name="connsiteX4-53" fmla="*/ 12971 w 4954194"/>
              <a:gd name="connsiteY4-54" fmla="*/ 1862264 h 3519374"/>
              <a:gd name="connsiteX5-55" fmla="*/ 1130405 w 4954194"/>
              <a:gd name="connsiteY5-56" fmla="*/ 3444150 h 3519374"/>
              <a:gd name="connsiteX6-57" fmla="*/ 1275627 w 4954194"/>
              <a:gd name="connsiteY6-58" fmla="*/ 3519374 h 3519374"/>
              <a:gd name="connsiteX7-59" fmla="*/ 4776369 w 4954194"/>
              <a:gd name="connsiteY7-60" fmla="*/ 3519374 h 3519374"/>
              <a:gd name="connsiteX8-61" fmla="*/ 4954194 w 4954194"/>
              <a:gd name="connsiteY8-62" fmla="*/ 3341570 h 3519374"/>
              <a:gd name="connsiteX9-63" fmla="*/ 4954194 w 4954194"/>
              <a:gd name="connsiteY9-64" fmla="*/ 177754 h 3519374"/>
              <a:gd name="connsiteX10-65" fmla="*/ 4776390 w 4954194"/>
              <a:gd name="connsiteY10-66" fmla="*/ 0 h 3519374"/>
              <a:gd name="connsiteX0-67" fmla="*/ 4776390 w 4954194"/>
              <a:gd name="connsiteY0-68" fmla="*/ 0 h 3519374"/>
              <a:gd name="connsiteX1-69" fmla="*/ 1275648 w 4954194"/>
              <a:gd name="connsiteY1-70" fmla="*/ 0 h 3519374"/>
              <a:gd name="connsiteX2-71" fmla="*/ 1130414 w 4954194"/>
              <a:gd name="connsiteY2-72" fmla="*/ 75212 h 3519374"/>
              <a:gd name="connsiteX3-73" fmla="*/ 12980 w 4954194"/>
              <a:gd name="connsiteY3-74" fmla="*/ 1657097 h 3519374"/>
              <a:gd name="connsiteX4-75" fmla="*/ 12971 w 4954194"/>
              <a:gd name="connsiteY4-76" fmla="*/ 1862264 h 3519374"/>
              <a:gd name="connsiteX5-77" fmla="*/ 1130405 w 4954194"/>
              <a:gd name="connsiteY5-78" fmla="*/ 3444150 h 3519374"/>
              <a:gd name="connsiteX6-79" fmla="*/ 1275627 w 4954194"/>
              <a:gd name="connsiteY6-80" fmla="*/ 3519374 h 3519374"/>
              <a:gd name="connsiteX7-81" fmla="*/ 4776369 w 4954194"/>
              <a:gd name="connsiteY7-82" fmla="*/ 3519374 h 3519374"/>
              <a:gd name="connsiteX8-83" fmla="*/ 4954194 w 4954194"/>
              <a:gd name="connsiteY8-84" fmla="*/ 3341570 h 3519374"/>
              <a:gd name="connsiteX9-85" fmla="*/ 4954194 w 4954194"/>
              <a:gd name="connsiteY9-86" fmla="*/ 177754 h 3519374"/>
              <a:gd name="connsiteX10-87" fmla="*/ 4776390 w 4954194"/>
              <a:gd name="connsiteY10-88" fmla="*/ 0 h 3519374"/>
              <a:gd name="connsiteX0-89" fmla="*/ 4776390 w 4954194"/>
              <a:gd name="connsiteY0-90" fmla="*/ 0 h 3519374"/>
              <a:gd name="connsiteX1-91" fmla="*/ 1275648 w 4954194"/>
              <a:gd name="connsiteY1-92" fmla="*/ 0 h 3519374"/>
              <a:gd name="connsiteX2-93" fmla="*/ 1130414 w 4954194"/>
              <a:gd name="connsiteY2-94" fmla="*/ 75212 h 3519374"/>
              <a:gd name="connsiteX3-95" fmla="*/ 12980 w 4954194"/>
              <a:gd name="connsiteY3-96" fmla="*/ 1657097 h 3519374"/>
              <a:gd name="connsiteX4-97" fmla="*/ 12971 w 4954194"/>
              <a:gd name="connsiteY4-98" fmla="*/ 1862264 h 3519374"/>
              <a:gd name="connsiteX5-99" fmla="*/ 1130405 w 4954194"/>
              <a:gd name="connsiteY5-100" fmla="*/ 3444150 h 3519374"/>
              <a:gd name="connsiteX6-101" fmla="*/ 1275627 w 4954194"/>
              <a:gd name="connsiteY6-102" fmla="*/ 3519374 h 3519374"/>
              <a:gd name="connsiteX7-103" fmla="*/ 4776369 w 4954194"/>
              <a:gd name="connsiteY7-104" fmla="*/ 3519374 h 3519374"/>
              <a:gd name="connsiteX8-105" fmla="*/ 4954194 w 4954194"/>
              <a:gd name="connsiteY8-106" fmla="*/ 3341570 h 3519374"/>
              <a:gd name="connsiteX9-107" fmla="*/ 4954194 w 4954194"/>
              <a:gd name="connsiteY9-108" fmla="*/ 177754 h 3519374"/>
              <a:gd name="connsiteX10-109" fmla="*/ 4776390 w 4954194"/>
              <a:gd name="connsiteY10-110" fmla="*/ 0 h 3519374"/>
              <a:gd name="connsiteX0-111" fmla="*/ 4776386 w 4954190"/>
              <a:gd name="connsiteY0-112" fmla="*/ 0 h 3519374"/>
              <a:gd name="connsiteX1-113" fmla="*/ 1275644 w 4954190"/>
              <a:gd name="connsiteY1-114" fmla="*/ 0 h 3519374"/>
              <a:gd name="connsiteX2-115" fmla="*/ 1130410 w 4954190"/>
              <a:gd name="connsiteY2-116" fmla="*/ 75212 h 3519374"/>
              <a:gd name="connsiteX3-117" fmla="*/ 12976 w 4954190"/>
              <a:gd name="connsiteY3-118" fmla="*/ 1657097 h 3519374"/>
              <a:gd name="connsiteX4-119" fmla="*/ 12967 w 4954190"/>
              <a:gd name="connsiteY4-120" fmla="*/ 1862264 h 3519374"/>
              <a:gd name="connsiteX5-121" fmla="*/ 1130401 w 4954190"/>
              <a:gd name="connsiteY5-122" fmla="*/ 3444150 h 3519374"/>
              <a:gd name="connsiteX6-123" fmla="*/ 1275623 w 4954190"/>
              <a:gd name="connsiteY6-124" fmla="*/ 3519374 h 3519374"/>
              <a:gd name="connsiteX7-125" fmla="*/ 4776365 w 4954190"/>
              <a:gd name="connsiteY7-126" fmla="*/ 3519374 h 3519374"/>
              <a:gd name="connsiteX8-127" fmla="*/ 4954190 w 4954190"/>
              <a:gd name="connsiteY8-128" fmla="*/ 3341570 h 3519374"/>
              <a:gd name="connsiteX9-129" fmla="*/ 4954190 w 4954190"/>
              <a:gd name="connsiteY9-130" fmla="*/ 177754 h 3519374"/>
              <a:gd name="connsiteX10-131" fmla="*/ 4776386 w 4954190"/>
              <a:gd name="connsiteY10-132" fmla="*/ 0 h 3519374"/>
              <a:gd name="connsiteX0-133" fmla="*/ 4797124 w 4974928"/>
              <a:gd name="connsiteY0-134" fmla="*/ 0 h 3519374"/>
              <a:gd name="connsiteX1-135" fmla="*/ 1296382 w 4974928"/>
              <a:gd name="connsiteY1-136" fmla="*/ 0 h 3519374"/>
              <a:gd name="connsiteX2-137" fmla="*/ 1151148 w 4974928"/>
              <a:gd name="connsiteY2-138" fmla="*/ 75212 h 3519374"/>
              <a:gd name="connsiteX3-139" fmla="*/ 33714 w 4974928"/>
              <a:gd name="connsiteY3-140" fmla="*/ 1657097 h 3519374"/>
              <a:gd name="connsiteX4-141" fmla="*/ 33705 w 4974928"/>
              <a:gd name="connsiteY4-142" fmla="*/ 1862264 h 3519374"/>
              <a:gd name="connsiteX5-143" fmla="*/ 1151139 w 4974928"/>
              <a:gd name="connsiteY5-144" fmla="*/ 3444150 h 3519374"/>
              <a:gd name="connsiteX6-145" fmla="*/ 1296361 w 4974928"/>
              <a:gd name="connsiteY6-146" fmla="*/ 3519374 h 3519374"/>
              <a:gd name="connsiteX7-147" fmla="*/ 4797103 w 4974928"/>
              <a:gd name="connsiteY7-148" fmla="*/ 3519374 h 3519374"/>
              <a:gd name="connsiteX8-149" fmla="*/ 4974928 w 4974928"/>
              <a:gd name="connsiteY8-150" fmla="*/ 3341570 h 3519374"/>
              <a:gd name="connsiteX9-151" fmla="*/ 4974928 w 4974928"/>
              <a:gd name="connsiteY9-152" fmla="*/ 177754 h 3519374"/>
              <a:gd name="connsiteX10-153" fmla="*/ 4797124 w 4974928"/>
              <a:gd name="connsiteY10-154" fmla="*/ 0 h 3519374"/>
              <a:gd name="connsiteX0-155" fmla="*/ 4797124 w 4974928"/>
              <a:gd name="connsiteY0-156" fmla="*/ 0 h 3519374"/>
              <a:gd name="connsiteX1-157" fmla="*/ 1296382 w 4974928"/>
              <a:gd name="connsiteY1-158" fmla="*/ 0 h 3519374"/>
              <a:gd name="connsiteX2-159" fmla="*/ 1151148 w 4974928"/>
              <a:gd name="connsiteY2-160" fmla="*/ 75212 h 3519374"/>
              <a:gd name="connsiteX3-161" fmla="*/ 33714 w 4974928"/>
              <a:gd name="connsiteY3-162" fmla="*/ 1657097 h 3519374"/>
              <a:gd name="connsiteX4-163" fmla="*/ 33705 w 4974928"/>
              <a:gd name="connsiteY4-164" fmla="*/ 1862264 h 3519374"/>
              <a:gd name="connsiteX5-165" fmla="*/ 1151139 w 4974928"/>
              <a:gd name="connsiteY5-166" fmla="*/ 3444150 h 3519374"/>
              <a:gd name="connsiteX6-167" fmla="*/ 1296361 w 4974928"/>
              <a:gd name="connsiteY6-168" fmla="*/ 3519374 h 3519374"/>
              <a:gd name="connsiteX7-169" fmla="*/ 4797103 w 4974928"/>
              <a:gd name="connsiteY7-170" fmla="*/ 3519374 h 3519374"/>
              <a:gd name="connsiteX8-171" fmla="*/ 4974928 w 4974928"/>
              <a:gd name="connsiteY8-172" fmla="*/ 3341570 h 3519374"/>
              <a:gd name="connsiteX9-173" fmla="*/ 4974928 w 4974928"/>
              <a:gd name="connsiteY9-174" fmla="*/ 177754 h 3519374"/>
              <a:gd name="connsiteX10-175" fmla="*/ 4797124 w 4974928"/>
              <a:gd name="connsiteY10-176" fmla="*/ 0 h 3519374"/>
              <a:gd name="connsiteX0-177" fmla="*/ 4797124 w 4974928"/>
              <a:gd name="connsiteY0-178" fmla="*/ 0 h 3519374"/>
              <a:gd name="connsiteX1-179" fmla="*/ 1296382 w 4974928"/>
              <a:gd name="connsiteY1-180" fmla="*/ 0 h 3519374"/>
              <a:gd name="connsiteX2-181" fmla="*/ 1151148 w 4974928"/>
              <a:gd name="connsiteY2-182" fmla="*/ 75212 h 3519374"/>
              <a:gd name="connsiteX3-183" fmla="*/ 33714 w 4974928"/>
              <a:gd name="connsiteY3-184" fmla="*/ 1657097 h 3519374"/>
              <a:gd name="connsiteX4-185" fmla="*/ 33705 w 4974928"/>
              <a:gd name="connsiteY4-186" fmla="*/ 1862264 h 3519374"/>
              <a:gd name="connsiteX5-187" fmla="*/ 1151139 w 4974928"/>
              <a:gd name="connsiteY5-188" fmla="*/ 3444150 h 3519374"/>
              <a:gd name="connsiteX6-189" fmla="*/ 1296361 w 4974928"/>
              <a:gd name="connsiteY6-190" fmla="*/ 3519374 h 3519374"/>
              <a:gd name="connsiteX7-191" fmla="*/ 4797103 w 4974928"/>
              <a:gd name="connsiteY7-192" fmla="*/ 3519374 h 3519374"/>
              <a:gd name="connsiteX8-193" fmla="*/ 4974928 w 4974928"/>
              <a:gd name="connsiteY8-194" fmla="*/ 3341570 h 3519374"/>
              <a:gd name="connsiteX9-195" fmla="*/ 4974928 w 4974928"/>
              <a:gd name="connsiteY9-196" fmla="*/ 177754 h 3519374"/>
              <a:gd name="connsiteX10-197" fmla="*/ 4797124 w 4974928"/>
              <a:gd name="connsiteY10-198" fmla="*/ 0 h 3519374"/>
              <a:gd name="connsiteX0-199" fmla="*/ 4797124 w 4974928"/>
              <a:gd name="connsiteY0-200" fmla="*/ 0 h 3519374"/>
              <a:gd name="connsiteX1-201" fmla="*/ 1296382 w 4974928"/>
              <a:gd name="connsiteY1-202" fmla="*/ 0 h 3519374"/>
              <a:gd name="connsiteX2-203" fmla="*/ 1151148 w 4974928"/>
              <a:gd name="connsiteY2-204" fmla="*/ 75212 h 3519374"/>
              <a:gd name="connsiteX3-205" fmla="*/ 33714 w 4974928"/>
              <a:gd name="connsiteY3-206" fmla="*/ 1657097 h 3519374"/>
              <a:gd name="connsiteX4-207" fmla="*/ 33705 w 4974928"/>
              <a:gd name="connsiteY4-208" fmla="*/ 1862264 h 3519374"/>
              <a:gd name="connsiteX5-209" fmla="*/ 1151139 w 4974928"/>
              <a:gd name="connsiteY5-210" fmla="*/ 3444150 h 3519374"/>
              <a:gd name="connsiteX6-211" fmla="*/ 1296361 w 4974928"/>
              <a:gd name="connsiteY6-212" fmla="*/ 3519374 h 3519374"/>
              <a:gd name="connsiteX7-213" fmla="*/ 4797103 w 4974928"/>
              <a:gd name="connsiteY7-214" fmla="*/ 3519374 h 3519374"/>
              <a:gd name="connsiteX8-215" fmla="*/ 4974928 w 4974928"/>
              <a:gd name="connsiteY8-216" fmla="*/ 3341570 h 3519374"/>
              <a:gd name="connsiteX9-217" fmla="*/ 4974928 w 4974928"/>
              <a:gd name="connsiteY9-218" fmla="*/ 177754 h 3519374"/>
              <a:gd name="connsiteX10-219" fmla="*/ 4797124 w 4974928"/>
              <a:gd name="connsiteY10-220" fmla="*/ 0 h 3519374"/>
              <a:gd name="connsiteX0-221" fmla="*/ 4797124 w 4974928"/>
              <a:gd name="connsiteY0-222" fmla="*/ 0 h 3519374"/>
              <a:gd name="connsiteX1-223" fmla="*/ 1296382 w 4974928"/>
              <a:gd name="connsiteY1-224" fmla="*/ 0 h 3519374"/>
              <a:gd name="connsiteX2-225" fmla="*/ 1151148 w 4974928"/>
              <a:gd name="connsiteY2-226" fmla="*/ 75212 h 3519374"/>
              <a:gd name="connsiteX3-227" fmla="*/ 33714 w 4974928"/>
              <a:gd name="connsiteY3-228" fmla="*/ 1657097 h 3519374"/>
              <a:gd name="connsiteX4-229" fmla="*/ 33705 w 4974928"/>
              <a:gd name="connsiteY4-230" fmla="*/ 1862264 h 3519374"/>
              <a:gd name="connsiteX5-231" fmla="*/ 1151139 w 4974928"/>
              <a:gd name="connsiteY5-232" fmla="*/ 3444150 h 3519374"/>
              <a:gd name="connsiteX6-233" fmla="*/ 1296361 w 4974928"/>
              <a:gd name="connsiteY6-234" fmla="*/ 3519374 h 3519374"/>
              <a:gd name="connsiteX7-235" fmla="*/ 4797103 w 4974928"/>
              <a:gd name="connsiteY7-236" fmla="*/ 3519374 h 3519374"/>
              <a:gd name="connsiteX8-237" fmla="*/ 4974928 w 4974928"/>
              <a:gd name="connsiteY8-238" fmla="*/ 3341570 h 3519374"/>
              <a:gd name="connsiteX9-239" fmla="*/ 4974928 w 4974928"/>
              <a:gd name="connsiteY9-240" fmla="*/ 177754 h 3519374"/>
              <a:gd name="connsiteX10-241" fmla="*/ 4797124 w 4974928"/>
              <a:gd name="connsiteY10-242" fmla="*/ 0 h 3519374"/>
              <a:gd name="connsiteX0-243" fmla="*/ 4797124 w 4974928"/>
              <a:gd name="connsiteY0-244" fmla="*/ 0 h 3519374"/>
              <a:gd name="connsiteX1-245" fmla="*/ 1296382 w 4974928"/>
              <a:gd name="connsiteY1-246" fmla="*/ 0 h 3519374"/>
              <a:gd name="connsiteX2-247" fmla="*/ 1151148 w 4974928"/>
              <a:gd name="connsiteY2-248" fmla="*/ 75212 h 3519374"/>
              <a:gd name="connsiteX3-249" fmla="*/ 33714 w 4974928"/>
              <a:gd name="connsiteY3-250" fmla="*/ 1657097 h 3519374"/>
              <a:gd name="connsiteX4-251" fmla="*/ 33705 w 4974928"/>
              <a:gd name="connsiteY4-252" fmla="*/ 1862264 h 3519374"/>
              <a:gd name="connsiteX5-253" fmla="*/ 1151139 w 4974928"/>
              <a:gd name="connsiteY5-254" fmla="*/ 3444150 h 3519374"/>
              <a:gd name="connsiteX6-255" fmla="*/ 1296361 w 4974928"/>
              <a:gd name="connsiteY6-256" fmla="*/ 3519374 h 3519374"/>
              <a:gd name="connsiteX7-257" fmla="*/ 4797103 w 4974928"/>
              <a:gd name="connsiteY7-258" fmla="*/ 3519374 h 3519374"/>
              <a:gd name="connsiteX8-259" fmla="*/ 4974928 w 4974928"/>
              <a:gd name="connsiteY8-260" fmla="*/ 3341570 h 3519374"/>
              <a:gd name="connsiteX9-261" fmla="*/ 4974928 w 4974928"/>
              <a:gd name="connsiteY9-262" fmla="*/ 177754 h 3519374"/>
              <a:gd name="connsiteX10-263" fmla="*/ 4797124 w 4974928"/>
              <a:gd name="connsiteY10-264" fmla="*/ 0 h 3519374"/>
              <a:gd name="connsiteX0-265" fmla="*/ 4797124 w 4974928"/>
              <a:gd name="connsiteY0-266" fmla="*/ 0 h 3519374"/>
              <a:gd name="connsiteX1-267" fmla="*/ 1296382 w 4974928"/>
              <a:gd name="connsiteY1-268" fmla="*/ 0 h 3519374"/>
              <a:gd name="connsiteX2-269" fmla="*/ 1151148 w 4974928"/>
              <a:gd name="connsiteY2-270" fmla="*/ 75212 h 3519374"/>
              <a:gd name="connsiteX3-271" fmla="*/ 33714 w 4974928"/>
              <a:gd name="connsiteY3-272" fmla="*/ 1657097 h 3519374"/>
              <a:gd name="connsiteX4-273" fmla="*/ 33705 w 4974928"/>
              <a:gd name="connsiteY4-274" fmla="*/ 1862264 h 3519374"/>
              <a:gd name="connsiteX5-275" fmla="*/ 1151139 w 4974928"/>
              <a:gd name="connsiteY5-276" fmla="*/ 3444150 h 3519374"/>
              <a:gd name="connsiteX6-277" fmla="*/ 1296361 w 4974928"/>
              <a:gd name="connsiteY6-278" fmla="*/ 3519374 h 3519374"/>
              <a:gd name="connsiteX7-279" fmla="*/ 4797103 w 4974928"/>
              <a:gd name="connsiteY7-280" fmla="*/ 3519374 h 3519374"/>
              <a:gd name="connsiteX8-281" fmla="*/ 4974928 w 4974928"/>
              <a:gd name="connsiteY8-282" fmla="*/ 3341570 h 3519374"/>
              <a:gd name="connsiteX9-283" fmla="*/ 4974928 w 4974928"/>
              <a:gd name="connsiteY9-284" fmla="*/ 177754 h 3519374"/>
              <a:gd name="connsiteX10-285" fmla="*/ 4797124 w 4974928"/>
              <a:gd name="connsiteY10-286" fmla="*/ 0 h 3519374"/>
              <a:gd name="connsiteX0-287" fmla="*/ 4797124 w 4974928"/>
              <a:gd name="connsiteY0-288" fmla="*/ 0 h 3519374"/>
              <a:gd name="connsiteX1-289" fmla="*/ 1296382 w 4974928"/>
              <a:gd name="connsiteY1-290" fmla="*/ 0 h 3519374"/>
              <a:gd name="connsiteX2-291" fmla="*/ 1151148 w 4974928"/>
              <a:gd name="connsiteY2-292" fmla="*/ 75212 h 3519374"/>
              <a:gd name="connsiteX3-293" fmla="*/ 33714 w 4974928"/>
              <a:gd name="connsiteY3-294" fmla="*/ 1657097 h 3519374"/>
              <a:gd name="connsiteX4-295" fmla="*/ 33705 w 4974928"/>
              <a:gd name="connsiteY4-296" fmla="*/ 1862264 h 3519374"/>
              <a:gd name="connsiteX5-297" fmla="*/ 1151139 w 4974928"/>
              <a:gd name="connsiteY5-298" fmla="*/ 3444150 h 3519374"/>
              <a:gd name="connsiteX6-299" fmla="*/ 1296361 w 4974928"/>
              <a:gd name="connsiteY6-300" fmla="*/ 3519374 h 3519374"/>
              <a:gd name="connsiteX7-301" fmla="*/ 4797103 w 4974928"/>
              <a:gd name="connsiteY7-302" fmla="*/ 3519374 h 3519374"/>
              <a:gd name="connsiteX8-303" fmla="*/ 4974928 w 4974928"/>
              <a:gd name="connsiteY8-304" fmla="*/ 3341570 h 3519374"/>
              <a:gd name="connsiteX9-305" fmla="*/ 4974928 w 4974928"/>
              <a:gd name="connsiteY9-306" fmla="*/ 177754 h 3519374"/>
              <a:gd name="connsiteX10-307" fmla="*/ 4797124 w 4974928"/>
              <a:gd name="connsiteY10-308" fmla="*/ 0 h 3519374"/>
              <a:gd name="connsiteX0-309" fmla="*/ 4797124 w 4974928"/>
              <a:gd name="connsiteY0-310" fmla="*/ 0 h 3519374"/>
              <a:gd name="connsiteX1-311" fmla="*/ 1296382 w 4974928"/>
              <a:gd name="connsiteY1-312" fmla="*/ 0 h 3519374"/>
              <a:gd name="connsiteX2-313" fmla="*/ 1151148 w 4974928"/>
              <a:gd name="connsiteY2-314" fmla="*/ 75212 h 3519374"/>
              <a:gd name="connsiteX3-315" fmla="*/ 33714 w 4974928"/>
              <a:gd name="connsiteY3-316" fmla="*/ 1657097 h 3519374"/>
              <a:gd name="connsiteX4-317" fmla="*/ 33705 w 4974928"/>
              <a:gd name="connsiteY4-318" fmla="*/ 1862264 h 3519374"/>
              <a:gd name="connsiteX5-319" fmla="*/ 1151139 w 4974928"/>
              <a:gd name="connsiteY5-320" fmla="*/ 3444150 h 3519374"/>
              <a:gd name="connsiteX6-321" fmla="*/ 1296361 w 4974928"/>
              <a:gd name="connsiteY6-322" fmla="*/ 3519374 h 3519374"/>
              <a:gd name="connsiteX7-323" fmla="*/ 4797103 w 4974928"/>
              <a:gd name="connsiteY7-324" fmla="*/ 3519374 h 3519374"/>
              <a:gd name="connsiteX8-325" fmla="*/ 4974928 w 4974928"/>
              <a:gd name="connsiteY8-326" fmla="*/ 3341570 h 3519374"/>
              <a:gd name="connsiteX9-327" fmla="*/ 4974928 w 4974928"/>
              <a:gd name="connsiteY9-328" fmla="*/ 177754 h 3519374"/>
              <a:gd name="connsiteX10-329" fmla="*/ 4797124 w 4974928"/>
              <a:gd name="connsiteY10-330" fmla="*/ 0 h 3519374"/>
              <a:gd name="connsiteX0-331" fmla="*/ 4797124 w 4974928"/>
              <a:gd name="connsiteY0-332" fmla="*/ 0 h 3519374"/>
              <a:gd name="connsiteX1-333" fmla="*/ 1296382 w 4974928"/>
              <a:gd name="connsiteY1-334" fmla="*/ 0 h 3519374"/>
              <a:gd name="connsiteX2-335" fmla="*/ 1151148 w 4974928"/>
              <a:gd name="connsiteY2-336" fmla="*/ 75212 h 3519374"/>
              <a:gd name="connsiteX3-337" fmla="*/ 33714 w 4974928"/>
              <a:gd name="connsiteY3-338" fmla="*/ 1657097 h 3519374"/>
              <a:gd name="connsiteX4-339" fmla="*/ 33705 w 4974928"/>
              <a:gd name="connsiteY4-340" fmla="*/ 1862264 h 3519374"/>
              <a:gd name="connsiteX5-341" fmla="*/ 1151139 w 4974928"/>
              <a:gd name="connsiteY5-342" fmla="*/ 3444150 h 3519374"/>
              <a:gd name="connsiteX6-343" fmla="*/ 1296361 w 4974928"/>
              <a:gd name="connsiteY6-344" fmla="*/ 3519374 h 3519374"/>
              <a:gd name="connsiteX7-345" fmla="*/ 4797103 w 4974928"/>
              <a:gd name="connsiteY7-346" fmla="*/ 3519374 h 3519374"/>
              <a:gd name="connsiteX8-347" fmla="*/ 4974928 w 4974928"/>
              <a:gd name="connsiteY8-348" fmla="*/ 3341570 h 3519374"/>
              <a:gd name="connsiteX9-349" fmla="*/ 4974928 w 4974928"/>
              <a:gd name="connsiteY9-350" fmla="*/ 177754 h 3519374"/>
              <a:gd name="connsiteX10-351" fmla="*/ 4797124 w 4974928"/>
              <a:gd name="connsiteY10-352" fmla="*/ 0 h 3519374"/>
              <a:gd name="connsiteX0-353" fmla="*/ 4797124 w 4974928"/>
              <a:gd name="connsiteY0-354" fmla="*/ 0 h 3519374"/>
              <a:gd name="connsiteX1-355" fmla="*/ 1296382 w 4974928"/>
              <a:gd name="connsiteY1-356" fmla="*/ 0 h 3519374"/>
              <a:gd name="connsiteX2-357" fmla="*/ 1151148 w 4974928"/>
              <a:gd name="connsiteY2-358" fmla="*/ 75212 h 3519374"/>
              <a:gd name="connsiteX3-359" fmla="*/ 33714 w 4974928"/>
              <a:gd name="connsiteY3-360" fmla="*/ 1657097 h 3519374"/>
              <a:gd name="connsiteX4-361" fmla="*/ 33705 w 4974928"/>
              <a:gd name="connsiteY4-362" fmla="*/ 1862264 h 3519374"/>
              <a:gd name="connsiteX5-363" fmla="*/ 1151139 w 4974928"/>
              <a:gd name="connsiteY5-364" fmla="*/ 3444150 h 3519374"/>
              <a:gd name="connsiteX6-365" fmla="*/ 1296361 w 4974928"/>
              <a:gd name="connsiteY6-366" fmla="*/ 3519374 h 3519374"/>
              <a:gd name="connsiteX7-367" fmla="*/ 4797103 w 4974928"/>
              <a:gd name="connsiteY7-368" fmla="*/ 3519374 h 3519374"/>
              <a:gd name="connsiteX8-369" fmla="*/ 4974928 w 4974928"/>
              <a:gd name="connsiteY8-370" fmla="*/ 3341570 h 3519374"/>
              <a:gd name="connsiteX9-371" fmla="*/ 4974928 w 4974928"/>
              <a:gd name="connsiteY9-372" fmla="*/ 177754 h 3519374"/>
              <a:gd name="connsiteX10-373" fmla="*/ 4797124 w 4974928"/>
              <a:gd name="connsiteY10-374" fmla="*/ 0 h 3519374"/>
              <a:gd name="connsiteX0-375" fmla="*/ 4797124 w 4974928"/>
              <a:gd name="connsiteY0-376" fmla="*/ 0 h 3519374"/>
              <a:gd name="connsiteX1-377" fmla="*/ 1296382 w 4974928"/>
              <a:gd name="connsiteY1-378" fmla="*/ 0 h 3519374"/>
              <a:gd name="connsiteX2-379" fmla="*/ 1151148 w 4974928"/>
              <a:gd name="connsiteY2-380" fmla="*/ 75212 h 3519374"/>
              <a:gd name="connsiteX3-381" fmla="*/ 33714 w 4974928"/>
              <a:gd name="connsiteY3-382" fmla="*/ 1657097 h 3519374"/>
              <a:gd name="connsiteX4-383" fmla="*/ 33705 w 4974928"/>
              <a:gd name="connsiteY4-384" fmla="*/ 1862264 h 3519374"/>
              <a:gd name="connsiteX5-385" fmla="*/ 1151139 w 4974928"/>
              <a:gd name="connsiteY5-386" fmla="*/ 3444150 h 3519374"/>
              <a:gd name="connsiteX6-387" fmla="*/ 1296361 w 4974928"/>
              <a:gd name="connsiteY6-388" fmla="*/ 3519374 h 3519374"/>
              <a:gd name="connsiteX7-389" fmla="*/ 4797103 w 4974928"/>
              <a:gd name="connsiteY7-390" fmla="*/ 3519374 h 3519374"/>
              <a:gd name="connsiteX8-391" fmla="*/ 4974928 w 4974928"/>
              <a:gd name="connsiteY8-392" fmla="*/ 3341570 h 3519374"/>
              <a:gd name="connsiteX9-393" fmla="*/ 4974928 w 4974928"/>
              <a:gd name="connsiteY9-394" fmla="*/ 177754 h 3519374"/>
              <a:gd name="connsiteX10-395" fmla="*/ 4797124 w 4974928"/>
              <a:gd name="connsiteY10-396" fmla="*/ 0 h 35193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4974928" h="3519374">
                <a:moveTo>
                  <a:pt x="4797124" y="0"/>
                </a:moveTo>
                <a:cubicBezTo>
                  <a:pt x="4692969" y="0"/>
                  <a:pt x="1355294" y="0"/>
                  <a:pt x="1296382" y="0"/>
                </a:cubicBezTo>
                <a:cubicBezTo>
                  <a:pt x="1237470" y="0"/>
                  <a:pt x="1185138" y="27094"/>
                  <a:pt x="1151148" y="75212"/>
                </a:cubicBezTo>
                <a:cubicBezTo>
                  <a:pt x="1117158" y="123329"/>
                  <a:pt x="78660" y="1593470"/>
                  <a:pt x="33714" y="1657097"/>
                </a:cubicBezTo>
                <a:cubicBezTo>
                  <a:pt x="-11232" y="1720725"/>
                  <a:pt x="-11241" y="1798637"/>
                  <a:pt x="33705" y="1862264"/>
                </a:cubicBezTo>
                <a:cubicBezTo>
                  <a:pt x="78651" y="1925892"/>
                  <a:pt x="1117149" y="3396033"/>
                  <a:pt x="1151139" y="3444150"/>
                </a:cubicBezTo>
                <a:cubicBezTo>
                  <a:pt x="1185129" y="3492267"/>
                  <a:pt x="1237449" y="3519374"/>
                  <a:pt x="1296361" y="3519374"/>
                </a:cubicBezTo>
                <a:cubicBezTo>
                  <a:pt x="1355273" y="3519374"/>
                  <a:pt x="4692948" y="3519374"/>
                  <a:pt x="4797103" y="3519374"/>
                </a:cubicBezTo>
                <a:cubicBezTo>
                  <a:pt x="4901257" y="3519374"/>
                  <a:pt x="4974928" y="3445725"/>
                  <a:pt x="4974928" y="3341570"/>
                </a:cubicBezTo>
                <a:cubicBezTo>
                  <a:pt x="4974928" y="3237416"/>
                  <a:pt x="4974928" y="281908"/>
                  <a:pt x="4974928" y="177754"/>
                </a:cubicBezTo>
                <a:cubicBezTo>
                  <a:pt x="4974928" y="73599"/>
                  <a:pt x="4901279" y="0"/>
                  <a:pt x="4797124" y="0"/>
                </a:cubicBezTo>
                <a:close/>
              </a:path>
            </a:pathLst>
          </a:custGeom>
          <a:gradFill>
            <a:gsLst>
              <a:gs pos="70000">
                <a:schemeClr val="accent2">
                  <a:lumMod val="60000"/>
                  <a:lumOff val="40000"/>
                  <a:alpha val="0"/>
                </a:schemeClr>
              </a:gs>
              <a:gs pos="0">
                <a:schemeClr val="accent2">
                  <a:lumMod val="60000"/>
                  <a:lumOff val="40000"/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68000" tIns="45720" rIns="0" bIns="45720" numCol="1" spcCol="0" rtlCol="0" fromWordArt="0" anchor="ctr" anchorCtr="0" forceAA="0" compatLnSpc="1"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Background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Increasing use of UPI and online platforms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Local businesses need better digital visibility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Many micro-businesses still depend mainly on offline customers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Digital transformation can improve customer reach </a:t>
            </a:r>
          </a:p>
        </p:txBody>
      </p:sp>
      <p:sp>
        <p:nvSpPr>
          <p:cNvPr id="5" name="任意多边形: 形状 20"/>
          <p:cNvSpPr/>
          <p:nvPr>
            <p:custDataLst>
              <p:tags r:id="rId4"/>
            </p:custDataLst>
          </p:nvPr>
        </p:nvSpPr>
        <p:spPr>
          <a:xfrm>
            <a:off x="711200" y="1228090"/>
            <a:ext cx="5087620" cy="5194935"/>
          </a:xfrm>
          <a:custGeom>
            <a:avLst/>
            <a:gdLst>
              <a:gd name="connsiteX0" fmla="*/ 177804 w 4954193"/>
              <a:gd name="connsiteY0" fmla="*/ 0 h 3519374"/>
              <a:gd name="connsiteX1" fmla="*/ 3678546 w 4954193"/>
              <a:gd name="connsiteY1" fmla="*/ 0 h 3519374"/>
              <a:gd name="connsiteX2" fmla="*/ 3823780 w 4954193"/>
              <a:gd name="connsiteY2" fmla="*/ 75212 h 3519374"/>
              <a:gd name="connsiteX3" fmla="*/ 4941214 w 4954193"/>
              <a:gd name="connsiteY3" fmla="*/ 1657097 h 3519374"/>
              <a:gd name="connsiteX4" fmla="*/ 4941223 w 4954193"/>
              <a:gd name="connsiteY4" fmla="*/ 1862264 h 3519374"/>
              <a:gd name="connsiteX5" fmla="*/ 3823789 w 4954193"/>
              <a:gd name="connsiteY5" fmla="*/ 3444150 h 3519374"/>
              <a:gd name="connsiteX6" fmla="*/ 3678567 w 4954193"/>
              <a:gd name="connsiteY6" fmla="*/ 3519374 h 3519374"/>
              <a:gd name="connsiteX7" fmla="*/ 177825 w 4954193"/>
              <a:gd name="connsiteY7" fmla="*/ 3519374 h 3519374"/>
              <a:gd name="connsiteX8" fmla="*/ 0 w 4954193"/>
              <a:gd name="connsiteY8" fmla="*/ 3341570 h 3519374"/>
              <a:gd name="connsiteX9" fmla="*/ 0 w 4954193"/>
              <a:gd name="connsiteY9" fmla="*/ 177754 h 3519374"/>
              <a:gd name="connsiteX10" fmla="*/ 177804 w 4954193"/>
              <a:gd name="connsiteY10" fmla="*/ 0 h 3519374"/>
              <a:gd name="connsiteX0-1" fmla="*/ 177804 w 4954193"/>
              <a:gd name="connsiteY0-2" fmla="*/ 0 h 3519374"/>
              <a:gd name="connsiteX1-3" fmla="*/ 3678546 w 4954193"/>
              <a:gd name="connsiteY1-4" fmla="*/ 0 h 3519374"/>
              <a:gd name="connsiteX2-5" fmla="*/ 3823780 w 4954193"/>
              <a:gd name="connsiteY2-6" fmla="*/ 75212 h 3519374"/>
              <a:gd name="connsiteX3-7" fmla="*/ 4941214 w 4954193"/>
              <a:gd name="connsiteY3-8" fmla="*/ 1657097 h 3519374"/>
              <a:gd name="connsiteX4-9" fmla="*/ 4941223 w 4954193"/>
              <a:gd name="connsiteY4-10" fmla="*/ 1862264 h 3519374"/>
              <a:gd name="connsiteX5-11" fmla="*/ 3823789 w 4954193"/>
              <a:gd name="connsiteY5-12" fmla="*/ 3444150 h 3519374"/>
              <a:gd name="connsiteX6-13" fmla="*/ 3678567 w 4954193"/>
              <a:gd name="connsiteY6-14" fmla="*/ 3519374 h 3519374"/>
              <a:gd name="connsiteX7-15" fmla="*/ 177825 w 4954193"/>
              <a:gd name="connsiteY7-16" fmla="*/ 3519374 h 3519374"/>
              <a:gd name="connsiteX8-17" fmla="*/ 0 w 4954193"/>
              <a:gd name="connsiteY8-18" fmla="*/ 3341570 h 3519374"/>
              <a:gd name="connsiteX9-19" fmla="*/ 0 w 4954193"/>
              <a:gd name="connsiteY9-20" fmla="*/ 177754 h 3519374"/>
              <a:gd name="connsiteX10-21" fmla="*/ 177804 w 4954193"/>
              <a:gd name="connsiteY10-22" fmla="*/ 0 h 3519374"/>
              <a:gd name="connsiteX0-23" fmla="*/ 177804 w 4954193"/>
              <a:gd name="connsiteY0-24" fmla="*/ 0 h 3519374"/>
              <a:gd name="connsiteX1-25" fmla="*/ 3678546 w 4954193"/>
              <a:gd name="connsiteY1-26" fmla="*/ 0 h 3519374"/>
              <a:gd name="connsiteX2-27" fmla="*/ 3823780 w 4954193"/>
              <a:gd name="connsiteY2-28" fmla="*/ 75212 h 3519374"/>
              <a:gd name="connsiteX3-29" fmla="*/ 4941214 w 4954193"/>
              <a:gd name="connsiteY3-30" fmla="*/ 1657097 h 3519374"/>
              <a:gd name="connsiteX4-31" fmla="*/ 4941223 w 4954193"/>
              <a:gd name="connsiteY4-32" fmla="*/ 1862264 h 3519374"/>
              <a:gd name="connsiteX5-33" fmla="*/ 3823789 w 4954193"/>
              <a:gd name="connsiteY5-34" fmla="*/ 3444150 h 3519374"/>
              <a:gd name="connsiteX6-35" fmla="*/ 3678567 w 4954193"/>
              <a:gd name="connsiteY6-36" fmla="*/ 3519374 h 3519374"/>
              <a:gd name="connsiteX7-37" fmla="*/ 177825 w 4954193"/>
              <a:gd name="connsiteY7-38" fmla="*/ 3519374 h 3519374"/>
              <a:gd name="connsiteX8-39" fmla="*/ 0 w 4954193"/>
              <a:gd name="connsiteY8-40" fmla="*/ 3341570 h 3519374"/>
              <a:gd name="connsiteX9-41" fmla="*/ 0 w 4954193"/>
              <a:gd name="connsiteY9-42" fmla="*/ 177754 h 3519374"/>
              <a:gd name="connsiteX10-43" fmla="*/ 177804 w 4954193"/>
              <a:gd name="connsiteY10-44" fmla="*/ 0 h 3519374"/>
              <a:gd name="connsiteX0-45" fmla="*/ 177804 w 4954193"/>
              <a:gd name="connsiteY0-46" fmla="*/ 0 h 3519374"/>
              <a:gd name="connsiteX1-47" fmla="*/ 3678546 w 4954193"/>
              <a:gd name="connsiteY1-48" fmla="*/ 0 h 3519374"/>
              <a:gd name="connsiteX2-49" fmla="*/ 3823780 w 4954193"/>
              <a:gd name="connsiteY2-50" fmla="*/ 75212 h 3519374"/>
              <a:gd name="connsiteX3-51" fmla="*/ 4941214 w 4954193"/>
              <a:gd name="connsiteY3-52" fmla="*/ 1657097 h 3519374"/>
              <a:gd name="connsiteX4-53" fmla="*/ 4941223 w 4954193"/>
              <a:gd name="connsiteY4-54" fmla="*/ 1862264 h 3519374"/>
              <a:gd name="connsiteX5-55" fmla="*/ 3823789 w 4954193"/>
              <a:gd name="connsiteY5-56" fmla="*/ 3444150 h 3519374"/>
              <a:gd name="connsiteX6-57" fmla="*/ 3678567 w 4954193"/>
              <a:gd name="connsiteY6-58" fmla="*/ 3519374 h 3519374"/>
              <a:gd name="connsiteX7-59" fmla="*/ 177825 w 4954193"/>
              <a:gd name="connsiteY7-60" fmla="*/ 3519374 h 3519374"/>
              <a:gd name="connsiteX8-61" fmla="*/ 0 w 4954193"/>
              <a:gd name="connsiteY8-62" fmla="*/ 3341570 h 3519374"/>
              <a:gd name="connsiteX9-63" fmla="*/ 0 w 4954193"/>
              <a:gd name="connsiteY9-64" fmla="*/ 177754 h 3519374"/>
              <a:gd name="connsiteX10-65" fmla="*/ 177804 w 4954193"/>
              <a:gd name="connsiteY10-66" fmla="*/ 0 h 3519374"/>
              <a:gd name="connsiteX0-67" fmla="*/ 177804 w 4954193"/>
              <a:gd name="connsiteY0-68" fmla="*/ 0 h 3519374"/>
              <a:gd name="connsiteX1-69" fmla="*/ 3678546 w 4954193"/>
              <a:gd name="connsiteY1-70" fmla="*/ 0 h 3519374"/>
              <a:gd name="connsiteX2-71" fmla="*/ 3823780 w 4954193"/>
              <a:gd name="connsiteY2-72" fmla="*/ 75212 h 3519374"/>
              <a:gd name="connsiteX3-73" fmla="*/ 4941214 w 4954193"/>
              <a:gd name="connsiteY3-74" fmla="*/ 1657097 h 3519374"/>
              <a:gd name="connsiteX4-75" fmla="*/ 4941223 w 4954193"/>
              <a:gd name="connsiteY4-76" fmla="*/ 1862264 h 3519374"/>
              <a:gd name="connsiteX5-77" fmla="*/ 3823789 w 4954193"/>
              <a:gd name="connsiteY5-78" fmla="*/ 3444150 h 3519374"/>
              <a:gd name="connsiteX6-79" fmla="*/ 3678567 w 4954193"/>
              <a:gd name="connsiteY6-80" fmla="*/ 3519374 h 3519374"/>
              <a:gd name="connsiteX7-81" fmla="*/ 177825 w 4954193"/>
              <a:gd name="connsiteY7-82" fmla="*/ 3519374 h 3519374"/>
              <a:gd name="connsiteX8-83" fmla="*/ 0 w 4954193"/>
              <a:gd name="connsiteY8-84" fmla="*/ 3341570 h 3519374"/>
              <a:gd name="connsiteX9-85" fmla="*/ 0 w 4954193"/>
              <a:gd name="connsiteY9-86" fmla="*/ 177754 h 3519374"/>
              <a:gd name="connsiteX10-87" fmla="*/ 177804 w 4954193"/>
              <a:gd name="connsiteY10-88" fmla="*/ 0 h 3519374"/>
              <a:gd name="connsiteX0-89" fmla="*/ 177804 w 4954193"/>
              <a:gd name="connsiteY0-90" fmla="*/ 0 h 3519374"/>
              <a:gd name="connsiteX1-91" fmla="*/ 3678546 w 4954193"/>
              <a:gd name="connsiteY1-92" fmla="*/ 0 h 3519374"/>
              <a:gd name="connsiteX2-93" fmla="*/ 3823780 w 4954193"/>
              <a:gd name="connsiteY2-94" fmla="*/ 75212 h 3519374"/>
              <a:gd name="connsiteX3-95" fmla="*/ 4941214 w 4954193"/>
              <a:gd name="connsiteY3-96" fmla="*/ 1657097 h 3519374"/>
              <a:gd name="connsiteX4-97" fmla="*/ 4941223 w 4954193"/>
              <a:gd name="connsiteY4-98" fmla="*/ 1862264 h 3519374"/>
              <a:gd name="connsiteX5-99" fmla="*/ 3823789 w 4954193"/>
              <a:gd name="connsiteY5-100" fmla="*/ 3444150 h 3519374"/>
              <a:gd name="connsiteX6-101" fmla="*/ 3678567 w 4954193"/>
              <a:gd name="connsiteY6-102" fmla="*/ 3519374 h 3519374"/>
              <a:gd name="connsiteX7-103" fmla="*/ 177825 w 4954193"/>
              <a:gd name="connsiteY7-104" fmla="*/ 3519374 h 3519374"/>
              <a:gd name="connsiteX8-105" fmla="*/ 0 w 4954193"/>
              <a:gd name="connsiteY8-106" fmla="*/ 3341570 h 3519374"/>
              <a:gd name="connsiteX9-107" fmla="*/ 0 w 4954193"/>
              <a:gd name="connsiteY9-108" fmla="*/ 177754 h 3519374"/>
              <a:gd name="connsiteX10-109" fmla="*/ 177804 w 4954193"/>
              <a:gd name="connsiteY10-110" fmla="*/ 0 h 3519374"/>
              <a:gd name="connsiteX0-111" fmla="*/ 177804 w 4954190"/>
              <a:gd name="connsiteY0-112" fmla="*/ 0 h 3519374"/>
              <a:gd name="connsiteX1-113" fmla="*/ 3678546 w 4954190"/>
              <a:gd name="connsiteY1-114" fmla="*/ 0 h 3519374"/>
              <a:gd name="connsiteX2-115" fmla="*/ 3823780 w 4954190"/>
              <a:gd name="connsiteY2-116" fmla="*/ 75212 h 3519374"/>
              <a:gd name="connsiteX3-117" fmla="*/ 4941214 w 4954190"/>
              <a:gd name="connsiteY3-118" fmla="*/ 1657097 h 3519374"/>
              <a:gd name="connsiteX4-119" fmla="*/ 4941223 w 4954190"/>
              <a:gd name="connsiteY4-120" fmla="*/ 1862264 h 3519374"/>
              <a:gd name="connsiteX5-121" fmla="*/ 3823789 w 4954190"/>
              <a:gd name="connsiteY5-122" fmla="*/ 3444150 h 3519374"/>
              <a:gd name="connsiteX6-123" fmla="*/ 3678567 w 4954190"/>
              <a:gd name="connsiteY6-124" fmla="*/ 3519374 h 3519374"/>
              <a:gd name="connsiteX7-125" fmla="*/ 177825 w 4954190"/>
              <a:gd name="connsiteY7-126" fmla="*/ 3519374 h 3519374"/>
              <a:gd name="connsiteX8-127" fmla="*/ 0 w 4954190"/>
              <a:gd name="connsiteY8-128" fmla="*/ 3341570 h 3519374"/>
              <a:gd name="connsiteX9-129" fmla="*/ 0 w 4954190"/>
              <a:gd name="connsiteY9-130" fmla="*/ 177754 h 3519374"/>
              <a:gd name="connsiteX10-131" fmla="*/ 177804 w 4954190"/>
              <a:gd name="connsiteY10-132" fmla="*/ 0 h 3519374"/>
              <a:gd name="connsiteX0-133" fmla="*/ 177804 w 4974928"/>
              <a:gd name="connsiteY0-134" fmla="*/ 0 h 3519374"/>
              <a:gd name="connsiteX1-135" fmla="*/ 3678546 w 4974928"/>
              <a:gd name="connsiteY1-136" fmla="*/ 0 h 3519374"/>
              <a:gd name="connsiteX2-137" fmla="*/ 3823780 w 4974928"/>
              <a:gd name="connsiteY2-138" fmla="*/ 75212 h 3519374"/>
              <a:gd name="connsiteX3-139" fmla="*/ 4941214 w 4974928"/>
              <a:gd name="connsiteY3-140" fmla="*/ 1657097 h 3519374"/>
              <a:gd name="connsiteX4-141" fmla="*/ 4941223 w 4974928"/>
              <a:gd name="connsiteY4-142" fmla="*/ 1862264 h 3519374"/>
              <a:gd name="connsiteX5-143" fmla="*/ 3823789 w 4974928"/>
              <a:gd name="connsiteY5-144" fmla="*/ 3444150 h 3519374"/>
              <a:gd name="connsiteX6-145" fmla="*/ 3678567 w 4974928"/>
              <a:gd name="connsiteY6-146" fmla="*/ 3519374 h 3519374"/>
              <a:gd name="connsiteX7-147" fmla="*/ 177825 w 4974928"/>
              <a:gd name="connsiteY7-148" fmla="*/ 3519374 h 3519374"/>
              <a:gd name="connsiteX8-149" fmla="*/ 0 w 4974928"/>
              <a:gd name="connsiteY8-150" fmla="*/ 3341570 h 3519374"/>
              <a:gd name="connsiteX9-151" fmla="*/ 0 w 4974928"/>
              <a:gd name="connsiteY9-152" fmla="*/ 177754 h 3519374"/>
              <a:gd name="connsiteX10-153" fmla="*/ 177804 w 4974928"/>
              <a:gd name="connsiteY10-154" fmla="*/ 0 h 3519374"/>
              <a:gd name="connsiteX0-155" fmla="*/ 177804 w 4974928"/>
              <a:gd name="connsiteY0-156" fmla="*/ 0 h 3519374"/>
              <a:gd name="connsiteX1-157" fmla="*/ 3678546 w 4974928"/>
              <a:gd name="connsiteY1-158" fmla="*/ 0 h 3519374"/>
              <a:gd name="connsiteX2-159" fmla="*/ 3823780 w 4974928"/>
              <a:gd name="connsiteY2-160" fmla="*/ 75212 h 3519374"/>
              <a:gd name="connsiteX3-161" fmla="*/ 4941214 w 4974928"/>
              <a:gd name="connsiteY3-162" fmla="*/ 1657097 h 3519374"/>
              <a:gd name="connsiteX4-163" fmla="*/ 4941223 w 4974928"/>
              <a:gd name="connsiteY4-164" fmla="*/ 1862264 h 3519374"/>
              <a:gd name="connsiteX5-165" fmla="*/ 3823789 w 4974928"/>
              <a:gd name="connsiteY5-166" fmla="*/ 3444150 h 3519374"/>
              <a:gd name="connsiteX6-167" fmla="*/ 3678567 w 4974928"/>
              <a:gd name="connsiteY6-168" fmla="*/ 3519374 h 3519374"/>
              <a:gd name="connsiteX7-169" fmla="*/ 177825 w 4974928"/>
              <a:gd name="connsiteY7-170" fmla="*/ 3519374 h 3519374"/>
              <a:gd name="connsiteX8-171" fmla="*/ 0 w 4974928"/>
              <a:gd name="connsiteY8-172" fmla="*/ 3341570 h 3519374"/>
              <a:gd name="connsiteX9-173" fmla="*/ 0 w 4974928"/>
              <a:gd name="connsiteY9-174" fmla="*/ 177754 h 3519374"/>
              <a:gd name="connsiteX10-175" fmla="*/ 177804 w 4974928"/>
              <a:gd name="connsiteY10-176" fmla="*/ 0 h 3519374"/>
              <a:gd name="connsiteX0-177" fmla="*/ 177804 w 4974928"/>
              <a:gd name="connsiteY0-178" fmla="*/ 0 h 3519374"/>
              <a:gd name="connsiteX1-179" fmla="*/ 3678546 w 4974928"/>
              <a:gd name="connsiteY1-180" fmla="*/ 0 h 3519374"/>
              <a:gd name="connsiteX2-181" fmla="*/ 3823780 w 4974928"/>
              <a:gd name="connsiteY2-182" fmla="*/ 75212 h 3519374"/>
              <a:gd name="connsiteX3-183" fmla="*/ 4941214 w 4974928"/>
              <a:gd name="connsiteY3-184" fmla="*/ 1657097 h 3519374"/>
              <a:gd name="connsiteX4-185" fmla="*/ 4941223 w 4974928"/>
              <a:gd name="connsiteY4-186" fmla="*/ 1862264 h 3519374"/>
              <a:gd name="connsiteX5-187" fmla="*/ 3823789 w 4974928"/>
              <a:gd name="connsiteY5-188" fmla="*/ 3444150 h 3519374"/>
              <a:gd name="connsiteX6-189" fmla="*/ 3678567 w 4974928"/>
              <a:gd name="connsiteY6-190" fmla="*/ 3519374 h 3519374"/>
              <a:gd name="connsiteX7-191" fmla="*/ 177825 w 4974928"/>
              <a:gd name="connsiteY7-192" fmla="*/ 3519374 h 3519374"/>
              <a:gd name="connsiteX8-193" fmla="*/ 0 w 4974928"/>
              <a:gd name="connsiteY8-194" fmla="*/ 3341570 h 3519374"/>
              <a:gd name="connsiteX9-195" fmla="*/ 0 w 4974928"/>
              <a:gd name="connsiteY9-196" fmla="*/ 177754 h 3519374"/>
              <a:gd name="connsiteX10-197" fmla="*/ 177804 w 4974928"/>
              <a:gd name="connsiteY10-198" fmla="*/ 0 h 3519374"/>
              <a:gd name="connsiteX0-199" fmla="*/ 177804 w 4974928"/>
              <a:gd name="connsiteY0-200" fmla="*/ 0 h 3519374"/>
              <a:gd name="connsiteX1-201" fmla="*/ 3678546 w 4974928"/>
              <a:gd name="connsiteY1-202" fmla="*/ 0 h 3519374"/>
              <a:gd name="connsiteX2-203" fmla="*/ 3823780 w 4974928"/>
              <a:gd name="connsiteY2-204" fmla="*/ 75212 h 3519374"/>
              <a:gd name="connsiteX3-205" fmla="*/ 4941214 w 4974928"/>
              <a:gd name="connsiteY3-206" fmla="*/ 1657097 h 3519374"/>
              <a:gd name="connsiteX4-207" fmla="*/ 4941223 w 4974928"/>
              <a:gd name="connsiteY4-208" fmla="*/ 1862264 h 3519374"/>
              <a:gd name="connsiteX5-209" fmla="*/ 3823789 w 4974928"/>
              <a:gd name="connsiteY5-210" fmla="*/ 3444150 h 3519374"/>
              <a:gd name="connsiteX6-211" fmla="*/ 3678567 w 4974928"/>
              <a:gd name="connsiteY6-212" fmla="*/ 3519374 h 3519374"/>
              <a:gd name="connsiteX7-213" fmla="*/ 177825 w 4974928"/>
              <a:gd name="connsiteY7-214" fmla="*/ 3519374 h 3519374"/>
              <a:gd name="connsiteX8-215" fmla="*/ 0 w 4974928"/>
              <a:gd name="connsiteY8-216" fmla="*/ 3341570 h 3519374"/>
              <a:gd name="connsiteX9-217" fmla="*/ 0 w 4974928"/>
              <a:gd name="connsiteY9-218" fmla="*/ 177754 h 3519374"/>
              <a:gd name="connsiteX10-219" fmla="*/ 177804 w 4974928"/>
              <a:gd name="connsiteY10-220" fmla="*/ 0 h 3519374"/>
              <a:gd name="connsiteX0-221" fmla="*/ 177804 w 4974928"/>
              <a:gd name="connsiteY0-222" fmla="*/ 0 h 3519374"/>
              <a:gd name="connsiteX1-223" fmla="*/ 3678546 w 4974928"/>
              <a:gd name="connsiteY1-224" fmla="*/ 0 h 3519374"/>
              <a:gd name="connsiteX2-225" fmla="*/ 3823780 w 4974928"/>
              <a:gd name="connsiteY2-226" fmla="*/ 75212 h 3519374"/>
              <a:gd name="connsiteX3-227" fmla="*/ 4941214 w 4974928"/>
              <a:gd name="connsiteY3-228" fmla="*/ 1657097 h 3519374"/>
              <a:gd name="connsiteX4-229" fmla="*/ 4941223 w 4974928"/>
              <a:gd name="connsiteY4-230" fmla="*/ 1862264 h 3519374"/>
              <a:gd name="connsiteX5-231" fmla="*/ 3823789 w 4974928"/>
              <a:gd name="connsiteY5-232" fmla="*/ 3444150 h 3519374"/>
              <a:gd name="connsiteX6-233" fmla="*/ 3678567 w 4974928"/>
              <a:gd name="connsiteY6-234" fmla="*/ 3519374 h 3519374"/>
              <a:gd name="connsiteX7-235" fmla="*/ 177825 w 4974928"/>
              <a:gd name="connsiteY7-236" fmla="*/ 3519374 h 3519374"/>
              <a:gd name="connsiteX8-237" fmla="*/ 0 w 4974928"/>
              <a:gd name="connsiteY8-238" fmla="*/ 3341570 h 3519374"/>
              <a:gd name="connsiteX9-239" fmla="*/ 0 w 4974928"/>
              <a:gd name="connsiteY9-240" fmla="*/ 177754 h 3519374"/>
              <a:gd name="connsiteX10-241" fmla="*/ 177804 w 4974928"/>
              <a:gd name="connsiteY10-242" fmla="*/ 0 h 3519374"/>
              <a:gd name="connsiteX0-243" fmla="*/ 177804 w 4974928"/>
              <a:gd name="connsiteY0-244" fmla="*/ 0 h 3519374"/>
              <a:gd name="connsiteX1-245" fmla="*/ 3678546 w 4974928"/>
              <a:gd name="connsiteY1-246" fmla="*/ 0 h 3519374"/>
              <a:gd name="connsiteX2-247" fmla="*/ 3823780 w 4974928"/>
              <a:gd name="connsiteY2-248" fmla="*/ 75212 h 3519374"/>
              <a:gd name="connsiteX3-249" fmla="*/ 4941214 w 4974928"/>
              <a:gd name="connsiteY3-250" fmla="*/ 1657097 h 3519374"/>
              <a:gd name="connsiteX4-251" fmla="*/ 4941223 w 4974928"/>
              <a:gd name="connsiteY4-252" fmla="*/ 1862264 h 3519374"/>
              <a:gd name="connsiteX5-253" fmla="*/ 3823789 w 4974928"/>
              <a:gd name="connsiteY5-254" fmla="*/ 3444150 h 3519374"/>
              <a:gd name="connsiteX6-255" fmla="*/ 3678567 w 4974928"/>
              <a:gd name="connsiteY6-256" fmla="*/ 3519374 h 3519374"/>
              <a:gd name="connsiteX7-257" fmla="*/ 177825 w 4974928"/>
              <a:gd name="connsiteY7-258" fmla="*/ 3519374 h 3519374"/>
              <a:gd name="connsiteX8-259" fmla="*/ 0 w 4974928"/>
              <a:gd name="connsiteY8-260" fmla="*/ 3341570 h 3519374"/>
              <a:gd name="connsiteX9-261" fmla="*/ 0 w 4974928"/>
              <a:gd name="connsiteY9-262" fmla="*/ 177754 h 3519374"/>
              <a:gd name="connsiteX10-263" fmla="*/ 177804 w 4974928"/>
              <a:gd name="connsiteY10-264" fmla="*/ 0 h 3519374"/>
              <a:gd name="connsiteX0-265" fmla="*/ 177804 w 4974928"/>
              <a:gd name="connsiteY0-266" fmla="*/ 0 h 3519374"/>
              <a:gd name="connsiteX1-267" fmla="*/ 3678546 w 4974928"/>
              <a:gd name="connsiteY1-268" fmla="*/ 0 h 3519374"/>
              <a:gd name="connsiteX2-269" fmla="*/ 3823780 w 4974928"/>
              <a:gd name="connsiteY2-270" fmla="*/ 75212 h 3519374"/>
              <a:gd name="connsiteX3-271" fmla="*/ 4941214 w 4974928"/>
              <a:gd name="connsiteY3-272" fmla="*/ 1657097 h 3519374"/>
              <a:gd name="connsiteX4-273" fmla="*/ 4941223 w 4974928"/>
              <a:gd name="connsiteY4-274" fmla="*/ 1862264 h 3519374"/>
              <a:gd name="connsiteX5-275" fmla="*/ 3823789 w 4974928"/>
              <a:gd name="connsiteY5-276" fmla="*/ 3444150 h 3519374"/>
              <a:gd name="connsiteX6-277" fmla="*/ 3678567 w 4974928"/>
              <a:gd name="connsiteY6-278" fmla="*/ 3519374 h 3519374"/>
              <a:gd name="connsiteX7-279" fmla="*/ 177825 w 4974928"/>
              <a:gd name="connsiteY7-280" fmla="*/ 3519374 h 3519374"/>
              <a:gd name="connsiteX8-281" fmla="*/ 0 w 4974928"/>
              <a:gd name="connsiteY8-282" fmla="*/ 3341570 h 3519374"/>
              <a:gd name="connsiteX9-283" fmla="*/ 0 w 4974928"/>
              <a:gd name="connsiteY9-284" fmla="*/ 177754 h 3519374"/>
              <a:gd name="connsiteX10-285" fmla="*/ 177804 w 4974928"/>
              <a:gd name="connsiteY10-286" fmla="*/ 0 h 3519374"/>
              <a:gd name="connsiteX0-287" fmla="*/ 177804 w 4974928"/>
              <a:gd name="connsiteY0-288" fmla="*/ 0 h 3519374"/>
              <a:gd name="connsiteX1-289" fmla="*/ 3678546 w 4974928"/>
              <a:gd name="connsiteY1-290" fmla="*/ 0 h 3519374"/>
              <a:gd name="connsiteX2-291" fmla="*/ 3823780 w 4974928"/>
              <a:gd name="connsiteY2-292" fmla="*/ 75212 h 3519374"/>
              <a:gd name="connsiteX3-293" fmla="*/ 4941214 w 4974928"/>
              <a:gd name="connsiteY3-294" fmla="*/ 1657097 h 3519374"/>
              <a:gd name="connsiteX4-295" fmla="*/ 4941223 w 4974928"/>
              <a:gd name="connsiteY4-296" fmla="*/ 1862264 h 3519374"/>
              <a:gd name="connsiteX5-297" fmla="*/ 3823789 w 4974928"/>
              <a:gd name="connsiteY5-298" fmla="*/ 3444150 h 3519374"/>
              <a:gd name="connsiteX6-299" fmla="*/ 3678567 w 4974928"/>
              <a:gd name="connsiteY6-300" fmla="*/ 3519374 h 3519374"/>
              <a:gd name="connsiteX7-301" fmla="*/ 177825 w 4974928"/>
              <a:gd name="connsiteY7-302" fmla="*/ 3519374 h 3519374"/>
              <a:gd name="connsiteX8-303" fmla="*/ 0 w 4974928"/>
              <a:gd name="connsiteY8-304" fmla="*/ 3341570 h 3519374"/>
              <a:gd name="connsiteX9-305" fmla="*/ 0 w 4974928"/>
              <a:gd name="connsiteY9-306" fmla="*/ 177754 h 3519374"/>
              <a:gd name="connsiteX10-307" fmla="*/ 177804 w 4974928"/>
              <a:gd name="connsiteY10-308" fmla="*/ 0 h 3519374"/>
              <a:gd name="connsiteX0-309" fmla="*/ 177804 w 4974928"/>
              <a:gd name="connsiteY0-310" fmla="*/ 0 h 3519374"/>
              <a:gd name="connsiteX1-311" fmla="*/ 3678546 w 4974928"/>
              <a:gd name="connsiteY1-312" fmla="*/ 0 h 3519374"/>
              <a:gd name="connsiteX2-313" fmla="*/ 3823780 w 4974928"/>
              <a:gd name="connsiteY2-314" fmla="*/ 75212 h 3519374"/>
              <a:gd name="connsiteX3-315" fmla="*/ 4941214 w 4974928"/>
              <a:gd name="connsiteY3-316" fmla="*/ 1657097 h 3519374"/>
              <a:gd name="connsiteX4-317" fmla="*/ 4941223 w 4974928"/>
              <a:gd name="connsiteY4-318" fmla="*/ 1862264 h 3519374"/>
              <a:gd name="connsiteX5-319" fmla="*/ 3823789 w 4974928"/>
              <a:gd name="connsiteY5-320" fmla="*/ 3444150 h 3519374"/>
              <a:gd name="connsiteX6-321" fmla="*/ 3678567 w 4974928"/>
              <a:gd name="connsiteY6-322" fmla="*/ 3519374 h 3519374"/>
              <a:gd name="connsiteX7-323" fmla="*/ 177825 w 4974928"/>
              <a:gd name="connsiteY7-324" fmla="*/ 3519374 h 3519374"/>
              <a:gd name="connsiteX8-325" fmla="*/ 0 w 4974928"/>
              <a:gd name="connsiteY8-326" fmla="*/ 3341570 h 3519374"/>
              <a:gd name="connsiteX9-327" fmla="*/ 0 w 4974928"/>
              <a:gd name="connsiteY9-328" fmla="*/ 177754 h 3519374"/>
              <a:gd name="connsiteX10-329" fmla="*/ 177804 w 4974928"/>
              <a:gd name="connsiteY10-330" fmla="*/ 0 h 3519374"/>
              <a:gd name="connsiteX0-331" fmla="*/ 177804 w 4974928"/>
              <a:gd name="connsiteY0-332" fmla="*/ 0 h 3519374"/>
              <a:gd name="connsiteX1-333" fmla="*/ 3678546 w 4974928"/>
              <a:gd name="connsiteY1-334" fmla="*/ 0 h 3519374"/>
              <a:gd name="connsiteX2-335" fmla="*/ 3823780 w 4974928"/>
              <a:gd name="connsiteY2-336" fmla="*/ 75212 h 3519374"/>
              <a:gd name="connsiteX3-337" fmla="*/ 4941214 w 4974928"/>
              <a:gd name="connsiteY3-338" fmla="*/ 1657097 h 3519374"/>
              <a:gd name="connsiteX4-339" fmla="*/ 4941223 w 4974928"/>
              <a:gd name="connsiteY4-340" fmla="*/ 1862264 h 3519374"/>
              <a:gd name="connsiteX5-341" fmla="*/ 3823789 w 4974928"/>
              <a:gd name="connsiteY5-342" fmla="*/ 3444150 h 3519374"/>
              <a:gd name="connsiteX6-343" fmla="*/ 3678567 w 4974928"/>
              <a:gd name="connsiteY6-344" fmla="*/ 3519374 h 3519374"/>
              <a:gd name="connsiteX7-345" fmla="*/ 177825 w 4974928"/>
              <a:gd name="connsiteY7-346" fmla="*/ 3519374 h 3519374"/>
              <a:gd name="connsiteX8-347" fmla="*/ 0 w 4974928"/>
              <a:gd name="connsiteY8-348" fmla="*/ 3341570 h 3519374"/>
              <a:gd name="connsiteX9-349" fmla="*/ 0 w 4974928"/>
              <a:gd name="connsiteY9-350" fmla="*/ 177754 h 3519374"/>
              <a:gd name="connsiteX10-351" fmla="*/ 177804 w 4974928"/>
              <a:gd name="connsiteY10-352" fmla="*/ 0 h 3519374"/>
              <a:gd name="connsiteX0-353" fmla="*/ 177804 w 4974928"/>
              <a:gd name="connsiteY0-354" fmla="*/ 0 h 3519374"/>
              <a:gd name="connsiteX1-355" fmla="*/ 3678546 w 4974928"/>
              <a:gd name="connsiteY1-356" fmla="*/ 0 h 3519374"/>
              <a:gd name="connsiteX2-357" fmla="*/ 3823780 w 4974928"/>
              <a:gd name="connsiteY2-358" fmla="*/ 75212 h 3519374"/>
              <a:gd name="connsiteX3-359" fmla="*/ 4941214 w 4974928"/>
              <a:gd name="connsiteY3-360" fmla="*/ 1657097 h 3519374"/>
              <a:gd name="connsiteX4-361" fmla="*/ 4941223 w 4974928"/>
              <a:gd name="connsiteY4-362" fmla="*/ 1862264 h 3519374"/>
              <a:gd name="connsiteX5-363" fmla="*/ 3823789 w 4974928"/>
              <a:gd name="connsiteY5-364" fmla="*/ 3444150 h 3519374"/>
              <a:gd name="connsiteX6-365" fmla="*/ 3678567 w 4974928"/>
              <a:gd name="connsiteY6-366" fmla="*/ 3519374 h 3519374"/>
              <a:gd name="connsiteX7-367" fmla="*/ 177825 w 4974928"/>
              <a:gd name="connsiteY7-368" fmla="*/ 3519374 h 3519374"/>
              <a:gd name="connsiteX8-369" fmla="*/ 0 w 4974928"/>
              <a:gd name="connsiteY8-370" fmla="*/ 3341570 h 3519374"/>
              <a:gd name="connsiteX9-371" fmla="*/ 0 w 4974928"/>
              <a:gd name="connsiteY9-372" fmla="*/ 177754 h 3519374"/>
              <a:gd name="connsiteX10-373" fmla="*/ 177804 w 4974928"/>
              <a:gd name="connsiteY10-374" fmla="*/ 0 h 3519374"/>
              <a:gd name="connsiteX0-375" fmla="*/ 177804 w 4974928"/>
              <a:gd name="connsiteY0-376" fmla="*/ 0 h 3519374"/>
              <a:gd name="connsiteX1-377" fmla="*/ 3678546 w 4974928"/>
              <a:gd name="connsiteY1-378" fmla="*/ 0 h 3519374"/>
              <a:gd name="connsiteX2-379" fmla="*/ 3823780 w 4974928"/>
              <a:gd name="connsiteY2-380" fmla="*/ 75212 h 3519374"/>
              <a:gd name="connsiteX3-381" fmla="*/ 4941214 w 4974928"/>
              <a:gd name="connsiteY3-382" fmla="*/ 1657097 h 3519374"/>
              <a:gd name="connsiteX4-383" fmla="*/ 4941223 w 4974928"/>
              <a:gd name="connsiteY4-384" fmla="*/ 1862264 h 3519374"/>
              <a:gd name="connsiteX5-385" fmla="*/ 3823789 w 4974928"/>
              <a:gd name="connsiteY5-386" fmla="*/ 3444150 h 3519374"/>
              <a:gd name="connsiteX6-387" fmla="*/ 3678567 w 4974928"/>
              <a:gd name="connsiteY6-388" fmla="*/ 3519374 h 3519374"/>
              <a:gd name="connsiteX7-389" fmla="*/ 177825 w 4974928"/>
              <a:gd name="connsiteY7-390" fmla="*/ 3519374 h 3519374"/>
              <a:gd name="connsiteX8-391" fmla="*/ 0 w 4974928"/>
              <a:gd name="connsiteY8-392" fmla="*/ 3341570 h 3519374"/>
              <a:gd name="connsiteX9-393" fmla="*/ 0 w 4974928"/>
              <a:gd name="connsiteY9-394" fmla="*/ 177754 h 3519374"/>
              <a:gd name="connsiteX10-395" fmla="*/ 177804 w 4974928"/>
              <a:gd name="connsiteY10-396" fmla="*/ 0 h 35193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4974928" h="3519374">
                <a:moveTo>
                  <a:pt x="177804" y="0"/>
                </a:moveTo>
                <a:cubicBezTo>
                  <a:pt x="281958" y="0"/>
                  <a:pt x="3619635" y="0"/>
                  <a:pt x="3678546" y="0"/>
                </a:cubicBezTo>
                <a:cubicBezTo>
                  <a:pt x="3737459" y="0"/>
                  <a:pt x="3789791" y="27094"/>
                  <a:pt x="3823780" y="75212"/>
                </a:cubicBezTo>
                <a:cubicBezTo>
                  <a:pt x="3857771" y="123329"/>
                  <a:pt x="4896269" y="1593470"/>
                  <a:pt x="4941214" y="1657097"/>
                </a:cubicBezTo>
                <a:cubicBezTo>
                  <a:pt x="4986161" y="1720725"/>
                  <a:pt x="4986170" y="1798637"/>
                  <a:pt x="4941223" y="1862264"/>
                </a:cubicBezTo>
                <a:cubicBezTo>
                  <a:pt x="4896278" y="1925892"/>
                  <a:pt x="3857780" y="3396033"/>
                  <a:pt x="3823789" y="3444150"/>
                </a:cubicBezTo>
                <a:cubicBezTo>
                  <a:pt x="3789800" y="3492267"/>
                  <a:pt x="3737480" y="3519374"/>
                  <a:pt x="3678567" y="3519374"/>
                </a:cubicBezTo>
                <a:cubicBezTo>
                  <a:pt x="3619656" y="3519374"/>
                  <a:pt x="281981" y="3519374"/>
                  <a:pt x="177825" y="3519374"/>
                </a:cubicBezTo>
                <a:cubicBezTo>
                  <a:pt x="73671" y="3519374"/>
                  <a:pt x="1" y="3445725"/>
                  <a:pt x="0" y="3341570"/>
                </a:cubicBezTo>
                <a:cubicBezTo>
                  <a:pt x="1" y="3237416"/>
                  <a:pt x="1" y="281908"/>
                  <a:pt x="0" y="177754"/>
                </a:cubicBezTo>
                <a:cubicBezTo>
                  <a:pt x="1" y="73599"/>
                  <a:pt x="73649" y="0"/>
                  <a:pt x="177804" y="0"/>
                </a:cubicBezTo>
                <a:close/>
              </a:path>
            </a:pathLst>
          </a:custGeom>
          <a:gradFill>
            <a:gsLst>
              <a:gs pos="30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1368000" bIns="45720" numCol="1" spcCol="0" rtlCol="0" fromWordArt="0" anchor="ctr" anchorCtr="0" forceAA="0" compatLnSpc="1"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Core Problem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Small shopkeepers often do not know </a:t>
            </a:r>
            <a:r>
              <a:rPr lang="en-IN" b="1" dirty="0">
                <a:solidFill>
                  <a:schemeClr val="tx1"/>
                </a:solidFill>
              </a:rPr>
              <a:t>which digital tools they actually need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Expensive websites and digital services may not be suitable for them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Many businesses have limited technical knowledge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Existing platforms usually provide </a:t>
            </a:r>
            <a:r>
              <a:rPr lang="en-IN" b="1" dirty="0">
                <a:solidFill>
                  <a:schemeClr val="tx1"/>
                </a:solidFill>
              </a:rPr>
              <a:t>one specific service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There is a need for simple and affordable digital guidance 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dirty="0">
              <a:ln>
                <a:noFill/>
                <a:prstDash val="sysDot"/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椭圆 1"/>
          <p:cNvSpPr/>
          <p:nvPr>
            <p:custDataLst>
              <p:tags r:id="rId5"/>
            </p:custDataLst>
          </p:nvPr>
        </p:nvSpPr>
        <p:spPr>
          <a:xfrm>
            <a:off x="4700994" y="2504018"/>
            <a:ext cx="2789710" cy="27897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Motivation :</a:t>
            </a:r>
          </a:p>
          <a:p>
            <a:endParaRPr lang="en-IN" sz="2400" b="1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“The problem is not only lack of technology — it is lack of the right technology at the right cost.”</a:t>
            </a:r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 err="1">
                <a:solidFill>
                  <a:schemeClr val="tx1"/>
                </a:solidFill>
              </a:rPr>
              <a:t>DigiMitra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600" b="1" dirty="0"/>
              <a:t>Existing Problems</a:t>
            </a:r>
          </a:p>
          <a:p>
            <a:pPr marL="0" indent="0">
              <a:buNone/>
            </a:pPr>
            <a:endParaRPr lang="en-IN" sz="1600" b="1" dirty="0"/>
          </a:p>
          <a:p>
            <a:pPr lvl="0"/>
            <a:r>
              <a:rPr lang="en-IN" sz="1600" dirty="0"/>
              <a:t>Small businesses have </a:t>
            </a:r>
            <a:r>
              <a:rPr lang="en-IN" sz="1600" b="1" dirty="0"/>
              <a:t>limited budgets</a:t>
            </a:r>
            <a:r>
              <a:rPr lang="en-IN" sz="1600" dirty="0"/>
              <a:t> </a:t>
            </a:r>
          </a:p>
          <a:p>
            <a:pPr lvl="0"/>
            <a:r>
              <a:rPr lang="en-IN" sz="1600" dirty="0"/>
              <a:t>Owners may not understand technical terms </a:t>
            </a:r>
          </a:p>
          <a:p>
            <a:pPr lvl="0"/>
            <a:r>
              <a:rPr lang="en-IN" sz="1600" dirty="0"/>
              <a:t>They often don't know whether they need: </a:t>
            </a:r>
          </a:p>
          <a:p>
            <a:pPr lvl="1"/>
            <a:r>
              <a:rPr lang="en-IN" sz="1600" dirty="0"/>
              <a:t>Website </a:t>
            </a:r>
          </a:p>
          <a:p>
            <a:pPr lvl="1"/>
            <a:r>
              <a:rPr lang="en-IN" sz="1600" dirty="0"/>
              <a:t>Google Business Profile </a:t>
            </a:r>
          </a:p>
          <a:p>
            <a:pPr lvl="1"/>
            <a:r>
              <a:rPr lang="en-IN" sz="1600" dirty="0"/>
              <a:t>WhatsApp Business </a:t>
            </a:r>
          </a:p>
          <a:p>
            <a:pPr lvl="1"/>
            <a:r>
              <a:rPr lang="en-IN" sz="1600" dirty="0"/>
              <a:t>Digital catalogue </a:t>
            </a:r>
          </a:p>
          <a:p>
            <a:pPr lvl="1"/>
            <a:r>
              <a:rPr lang="en-IN" sz="1600" dirty="0"/>
              <a:t>Online ordering </a:t>
            </a:r>
          </a:p>
          <a:p>
            <a:pPr lvl="0"/>
            <a:r>
              <a:rPr lang="en-IN" sz="1600" dirty="0"/>
              <a:t>Existing tools usually solve only one problem </a:t>
            </a:r>
          </a:p>
          <a:p>
            <a:pPr lvl="0"/>
            <a:r>
              <a:rPr lang="en-IN" sz="1600" dirty="0"/>
              <a:t>Professional digital consultants can be expensive</a:t>
            </a:r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473A8-4BAE-3D84-E0B3-B5A8B0904F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600" b="1" dirty="0"/>
              <a:t>Need</a:t>
            </a:r>
          </a:p>
          <a:p>
            <a:pPr marL="0" indent="0">
              <a:buNone/>
            </a:pPr>
            <a:endParaRPr lang="en-IN" sz="1600" b="1" dirty="0"/>
          </a:p>
          <a:p>
            <a:r>
              <a:rPr lang="en-IN" sz="1600" b="1" dirty="0"/>
              <a:t>A simple system that first understands the business and then recommends what should be done.</a:t>
            </a:r>
            <a:endParaRPr lang="en-IN" sz="1600" dirty="0"/>
          </a:p>
          <a:p>
            <a:r>
              <a:rPr lang="en-IN" sz="1600" dirty="0"/>
              <a:t>The original framework identifies this as an information-asymmetry problem: merchants may not know what technology they actually need. </a:t>
            </a:r>
          </a:p>
          <a:p>
            <a:endParaRPr lang="en-IN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Objectives</a:t>
            </a:r>
          </a:p>
        </p:txBody>
      </p:sp>
      <p:sp>
        <p:nvSpPr>
          <p:cNvPr id="12" name="图形 4"/>
          <p:cNvSpPr/>
          <p:nvPr>
            <p:custDataLst>
              <p:tags r:id="rId3"/>
            </p:custDataLst>
          </p:nvPr>
        </p:nvSpPr>
        <p:spPr>
          <a:xfrm flipH="1">
            <a:off x="5393245" y="1849404"/>
            <a:ext cx="1791663" cy="1488396"/>
          </a:xfrm>
          <a:custGeom>
            <a:avLst/>
            <a:gdLst>
              <a:gd name="connsiteX0" fmla="*/ 0 w 1791590"/>
              <a:gd name="connsiteY0" fmla="*/ 0 h 1488335"/>
              <a:gd name="connsiteX1" fmla="*/ 1382445 w 1791590"/>
              <a:gd name="connsiteY1" fmla="*/ 1488336 h 1488335"/>
              <a:gd name="connsiteX2" fmla="*/ 1791591 w 1791590"/>
              <a:gd name="connsiteY2" fmla="*/ 197814 h 1488335"/>
              <a:gd name="connsiteX3" fmla="*/ 0 w 1791590"/>
              <a:gd name="connsiteY3" fmla="*/ 0 h 148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90" h="1488335">
                <a:moveTo>
                  <a:pt x="0" y="0"/>
                </a:moveTo>
                <a:cubicBezTo>
                  <a:pt x="0" y="0"/>
                  <a:pt x="141038" y="1149484"/>
                  <a:pt x="1382445" y="1488336"/>
                </a:cubicBezTo>
                <a:cubicBezTo>
                  <a:pt x="1382445" y="1488336"/>
                  <a:pt x="1382445" y="712401"/>
                  <a:pt x="1791591" y="197814"/>
                </a:cubicBezTo>
                <a:cubicBezTo>
                  <a:pt x="1791591" y="197363"/>
                  <a:pt x="733579" y="529006"/>
                  <a:pt x="0" y="0"/>
                </a:cubicBez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 w="44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图形 8"/>
          <p:cNvSpPr/>
          <p:nvPr>
            <p:custDataLst>
              <p:tags r:id="rId4"/>
            </p:custDataLst>
          </p:nvPr>
        </p:nvSpPr>
        <p:spPr>
          <a:xfrm rot="18000000" flipH="1">
            <a:off x="4301001" y="2252010"/>
            <a:ext cx="1791662" cy="1488396"/>
          </a:xfrm>
          <a:custGeom>
            <a:avLst/>
            <a:gdLst>
              <a:gd name="connsiteX0" fmla="*/ 0 w 1791589"/>
              <a:gd name="connsiteY0" fmla="*/ 0 h 1488335"/>
              <a:gd name="connsiteX1" fmla="*/ 1382444 w 1791589"/>
              <a:gd name="connsiteY1" fmla="*/ 1488336 h 1488335"/>
              <a:gd name="connsiteX2" fmla="*/ 1791590 w 1791589"/>
              <a:gd name="connsiteY2" fmla="*/ 197814 h 1488335"/>
              <a:gd name="connsiteX3" fmla="*/ 0 w 1791589"/>
              <a:gd name="connsiteY3" fmla="*/ 0 h 148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89" h="1488335">
                <a:moveTo>
                  <a:pt x="0" y="0"/>
                </a:moveTo>
                <a:cubicBezTo>
                  <a:pt x="0" y="0"/>
                  <a:pt x="141038" y="1149484"/>
                  <a:pt x="1382444" y="1488336"/>
                </a:cubicBezTo>
                <a:cubicBezTo>
                  <a:pt x="1382444" y="1488336"/>
                  <a:pt x="1382444" y="712401"/>
                  <a:pt x="1791590" y="197814"/>
                </a:cubicBezTo>
                <a:cubicBezTo>
                  <a:pt x="1791590" y="197363"/>
                  <a:pt x="733578" y="52900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4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图形 9"/>
          <p:cNvSpPr/>
          <p:nvPr>
            <p:custDataLst>
              <p:tags r:id="rId5"/>
            </p:custDataLst>
          </p:nvPr>
        </p:nvSpPr>
        <p:spPr>
          <a:xfrm rot="14400000" flipH="1">
            <a:off x="4108588" y="3397597"/>
            <a:ext cx="1791663" cy="1488396"/>
          </a:xfrm>
          <a:custGeom>
            <a:avLst/>
            <a:gdLst>
              <a:gd name="connsiteX0" fmla="*/ 0 w 1791590"/>
              <a:gd name="connsiteY0" fmla="*/ 0 h 1488335"/>
              <a:gd name="connsiteX1" fmla="*/ 1382445 w 1791590"/>
              <a:gd name="connsiteY1" fmla="*/ 1488336 h 1488335"/>
              <a:gd name="connsiteX2" fmla="*/ 1791591 w 1791590"/>
              <a:gd name="connsiteY2" fmla="*/ 197814 h 1488335"/>
              <a:gd name="connsiteX3" fmla="*/ 0 w 1791590"/>
              <a:gd name="connsiteY3" fmla="*/ 0 h 148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90" h="1488335">
                <a:moveTo>
                  <a:pt x="0" y="0"/>
                </a:moveTo>
                <a:cubicBezTo>
                  <a:pt x="0" y="0"/>
                  <a:pt x="141038" y="1149484"/>
                  <a:pt x="1382445" y="1488336"/>
                </a:cubicBezTo>
                <a:cubicBezTo>
                  <a:pt x="1382445" y="1488336"/>
                  <a:pt x="1382445" y="712401"/>
                  <a:pt x="1791591" y="197814"/>
                </a:cubicBezTo>
                <a:cubicBezTo>
                  <a:pt x="1791591" y="197363"/>
                  <a:pt x="733579" y="529006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lumOff val="50000"/>
            </a:schemeClr>
          </a:solidFill>
          <a:ln w="44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图形 10"/>
          <p:cNvSpPr/>
          <p:nvPr>
            <p:custDataLst>
              <p:tags r:id="rId6"/>
            </p:custDataLst>
          </p:nvPr>
        </p:nvSpPr>
        <p:spPr>
          <a:xfrm rot="10800000" flipH="1">
            <a:off x="5003339" y="4141847"/>
            <a:ext cx="1791663" cy="1488395"/>
          </a:xfrm>
          <a:custGeom>
            <a:avLst/>
            <a:gdLst>
              <a:gd name="connsiteX0" fmla="*/ 0 w 1791590"/>
              <a:gd name="connsiteY0" fmla="*/ 0 h 1488334"/>
              <a:gd name="connsiteX1" fmla="*/ 1382445 w 1791590"/>
              <a:gd name="connsiteY1" fmla="*/ 1488335 h 1488334"/>
              <a:gd name="connsiteX2" fmla="*/ 1791591 w 1791590"/>
              <a:gd name="connsiteY2" fmla="*/ 197814 h 1488334"/>
              <a:gd name="connsiteX3" fmla="*/ 0 w 1791590"/>
              <a:gd name="connsiteY3" fmla="*/ 0 h 1488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90" h="1488334">
                <a:moveTo>
                  <a:pt x="0" y="0"/>
                </a:moveTo>
                <a:cubicBezTo>
                  <a:pt x="0" y="0"/>
                  <a:pt x="141038" y="1149483"/>
                  <a:pt x="1382445" y="1488335"/>
                </a:cubicBezTo>
                <a:cubicBezTo>
                  <a:pt x="1382445" y="1488335"/>
                  <a:pt x="1382445" y="712400"/>
                  <a:pt x="1791591" y="197814"/>
                </a:cubicBezTo>
                <a:cubicBezTo>
                  <a:pt x="1791591" y="197363"/>
                  <a:pt x="733579" y="529006"/>
                  <a:pt x="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44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图形 11"/>
          <p:cNvSpPr/>
          <p:nvPr>
            <p:custDataLst>
              <p:tags r:id="rId7"/>
            </p:custDataLst>
          </p:nvPr>
        </p:nvSpPr>
        <p:spPr>
          <a:xfrm rot="7200000" flipH="1">
            <a:off x="6093679" y="3739876"/>
            <a:ext cx="1791663" cy="1488396"/>
          </a:xfrm>
          <a:custGeom>
            <a:avLst/>
            <a:gdLst>
              <a:gd name="connsiteX0" fmla="*/ 0 w 1791590"/>
              <a:gd name="connsiteY0" fmla="*/ 0 h 1488335"/>
              <a:gd name="connsiteX1" fmla="*/ 1382445 w 1791590"/>
              <a:gd name="connsiteY1" fmla="*/ 1488336 h 1488335"/>
              <a:gd name="connsiteX2" fmla="*/ 1791591 w 1791590"/>
              <a:gd name="connsiteY2" fmla="*/ 197814 h 1488335"/>
              <a:gd name="connsiteX3" fmla="*/ 0 w 1791590"/>
              <a:gd name="connsiteY3" fmla="*/ 0 h 148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90" h="1488335">
                <a:moveTo>
                  <a:pt x="0" y="0"/>
                </a:moveTo>
                <a:cubicBezTo>
                  <a:pt x="0" y="0"/>
                  <a:pt x="141038" y="1149484"/>
                  <a:pt x="1382445" y="1488336"/>
                </a:cubicBezTo>
                <a:cubicBezTo>
                  <a:pt x="1382445" y="1488336"/>
                  <a:pt x="1382445" y="712401"/>
                  <a:pt x="1791591" y="197814"/>
                </a:cubicBezTo>
                <a:cubicBezTo>
                  <a:pt x="1791591" y="197363"/>
                  <a:pt x="733579" y="529006"/>
                  <a:pt x="0" y="0"/>
                </a:cubicBezTo>
                <a:close/>
              </a:path>
            </a:pathLst>
          </a:custGeom>
          <a:solidFill>
            <a:schemeClr val="accent6">
              <a:lumMod val="70000"/>
              <a:lumOff val="30000"/>
            </a:schemeClr>
          </a:solidFill>
          <a:ln w="44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图形 12"/>
          <p:cNvSpPr/>
          <p:nvPr>
            <p:custDataLst>
              <p:tags r:id="rId8"/>
            </p:custDataLst>
          </p:nvPr>
        </p:nvSpPr>
        <p:spPr>
          <a:xfrm rot="14381597" flipV="1">
            <a:off x="6290537" y="2594289"/>
            <a:ext cx="1791663" cy="1488396"/>
          </a:xfrm>
          <a:custGeom>
            <a:avLst/>
            <a:gdLst>
              <a:gd name="connsiteX0" fmla="*/ 0 w 1791590"/>
              <a:gd name="connsiteY0" fmla="*/ 0 h 1488335"/>
              <a:gd name="connsiteX1" fmla="*/ 1382445 w 1791590"/>
              <a:gd name="connsiteY1" fmla="*/ 1488336 h 1488335"/>
              <a:gd name="connsiteX2" fmla="*/ 1791591 w 1791590"/>
              <a:gd name="connsiteY2" fmla="*/ 197814 h 1488335"/>
              <a:gd name="connsiteX3" fmla="*/ 0 w 1791590"/>
              <a:gd name="connsiteY3" fmla="*/ 0 h 148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90" h="1488335">
                <a:moveTo>
                  <a:pt x="0" y="0"/>
                </a:moveTo>
                <a:cubicBezTo>
                  <a:pt x="0" y="0"/>
                  <a:pt x="141038" y="1149484"/>
                  <a:pt x="1382445" y="1488336"/>
                </a:cubicBezTo>
                <a:cubicBezTo>
                  <a:pt x="1382445" y="1488336"/>
                  <a:pt x="1382445" y="712401"/>
                  <a:pt x="1791591" y="197814"/>
                </a:cubicBezTo>
                <a:cubicBezTo>
                  <a:pt x="1791591" y="197363"/>
                  <a:pt x="733579" y="529006"/>
                  <a:pt x="0" y="0"/>
                </a:cubicBezTo>
                <a:close/>
              </a:path>
            </a:pathLst>
          </a:custGeom>
          <a:solidFill>
            <a:schemeClr val="accent4">
              <a:lumMod val="80000"/>
              <a:lumOff val="20000"/>
            </a:schemeClr>
          </a:solidFill>
          <a:ln w="44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任意多边形: 形状 33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754575" y="4720991"/>
            <a:ext cx="291172" cy="327901"/>
          </a:xfrm>
          <a:custGeom>
            <a:avLst/>
            <a:gdLst>
              <a:gd name="connsiteX0" fmla="*/ 129061 w 319766"/>
              <a:gd name="connsiteY0" fmla="*/ 235468 h 360102"/>
              <a:gd name="connsiteX1" fmla="*/ 190704 w 319766"/>
              <a:gd name="connsiteY1" fmla="*/ 235468 h 360102"/>
              <a:gd name="connsiteX2" fmla="*/ 190704 w 319766"/>
              <a:gd name="connsiteY2" fmla="*/ 297097 h 360102"/>
              <a:gd name="connsiteX3" fmla="*/ 129061 w 319766"/>
              <a:gd name="connsiteY3" fmla="*/ 297097 h 360102"/>
              <a:gd name="connsiteX4" fmla="*/ 50856 w 319766"/>
              <a:gd name="connsiteY4" fmla="*/ 235468 h 360102"/>
              <a:gd name="connsiteX5" fmla="*/ 112500 w 319766"/>
              <a:gd name="connsiteY5" fmla="*/ 235468 h 360102"/>
              <a:gd name="connsiteX6" fmla="*/ 112500 w 319766"/>
              <a:gd name="connsiteY6" fmla="*/ 297097 h 360102"/>
              <a:gd name="connsiteX7" fmla="*/ 50856 w 319766"/>
              <a:gd name="connsiteY7" fmla="*/ 297097 h 360102"/>
              <a:gd name="connsiteX8" fmla="*/ 207286 w 319766"/>
              <a:gd name="connsiteY8" fmla="*/ 145738 h 360102"/>
              <a:gd name="connsiteX9" fmla="*/ 268929 w 319766"/>
              <a:gd name="connsiteY9" fmla="*/ 145738 h 360102"/>
              <a:gd name="connsiteX10" fmla="*/ 268929 w 319766"/>
              <a:gd name="connsiteY10" fmla="*/ 207368 h 360102"/>
              <a:gd name="connsiteX11" fmla="*/ 207286 w 319766"/>
              <a:gd name="connsiteY11" fmla="*/ 207368 h 360102"/>
              <a:gd name="connsiteX12" fmla="*/ 129061 w 319766"/>
              <a:gd name="connsiteY12" fmla="*/ 145738 h 360102"/>
              <a:gd name="connsiteX13" fmla="*/ 190704 w 319766"/>
              <a:gd name="connsiteY13" fmla="*/ 145738 h 360102"/>
              <a:gd name="connsiteX14" fmla="*/ 190704 w 319766"/>
              <a:gd name="connsiteY14" fmla="*/ 207368 h 360102"/>
              <a:gd name="connsiteX15" fmla="*/ 129061 w 319766"/>
              <a:gd name="connsiteY15" fmla="*/ 207368 h 360102"/>
              <a:gd name="connsiteX16" fmla="*/ 50856 w 319766"/>
              <a:gd name="connsiteY16" fmla="*/ 145738 h 360102"/>
              <a:gd name="connsiteX17" fmla="*/ 112500 w 319766"/>
              <a:gd name="connsiteY17" fmla="*/ 145738 h 360102"/>
              <a:gd name="connsiteX18" fmla="*/ 112500 w 319766"/>
              <a:gd name="connsiteY18" fmla="*/ 207368 h 360102"/>
              <a:gd name="connsiteX19" fmla="*/ 50856 w 319766"/>
              <a:gd name="connsiteY19" fmla="*/ 207368 h 360102"/>
              <a:gd name="connsiteX20" fmla="*/ 31301 w 319766"/>
              <a:gd name="connsiteY20" fmla="*/ 113025 h 360102"/>
              <a:gd name="connsiteX21" fmla="*/ 24769 w 319766"/>
              <a:gd name="connsiteY21" fmla="*/ 119555 h 360102"/>
              <a:gd name="connsiteX22" fmla="*/ 24769 w 319766"/>
              <a:gd name="connsiteY22" fmla="*/ 324932 h 360102"/>
              <a:gd name="connsiteX23" fmla="*/ 31301 w 319766"/>
              <a:gd name="connsiteY23" fmla="*/ 331460 h 360102"/>
              <a:gd name="connsiteX24" fmla="*/ 288487 w 319766"/>
              <a:gd name="connsiteY24" fmla="*/ 331460 h 360102"/>
              <a:gd name="connsiteX25" fmla="*/ 295016 w 319766"/>
              <a:gd name="connsiteY25" fmla="*/ 324932 h 360102"/>
              <a:gd name="connsiteX26" fmla="*/ 294999 w 319766"/>
              <a:gd name="connsiteY26" fmla="*/ 119555 h 360102"/>
              <a:gd name="connsiteX27" fmla="*/ 288467 w 319766"/>
              <a:gd name="connsiteY27" fmla="*/ 113025 h 360102"/>
              <a:gd name="connsiteX28" fmla="*/ 37885 w 319766"/>
              <a:gd name="connsiteY28" fmla="*/ 40431 h 360102"/>
              <a:gd name="connsiteX29" fmla="*/ 78296 w 319766"/>
              <a:gd name="connsiteY29" fmla="*/ 40431 h 360102"/>
              <a:gd name="connsiteX30" fmla="*/ 78296 w 319766"/>
              <a:gd name="connsiteY30" fmla="*/ 59406 h 360102"/>
              <a:gd name="connsiteX31" fmla="*/ 104184 w 319766"/>
              <a:gd name="connsiteY31" fmla="*/ 85287 h 360102"/>
              <a:gd name="connsiteX32" fmla="*/ 105664 w 319766"/>
              <a:gd name="connsiteY32" fmla="*/ 85287 h 360102"/>
              <a:gd name="connsiteX33" fmla="*/ 131552 w 319766"/>
              <a:gd name="connsiteY33" fmla="*/ 59406 h 360102"/>
              <a:gd name="connsiteX34" fmla="*/ 131552 w 319766"/>
              <a:gd name="connsiteY34" fmla="*/ 40431 h 360102"/>
              <a:gd name="connsiteX35" fmla="*/ 188199 w 319766"/>
              <a:gd name="connsiteY35" fmla="*/ 40431 h 360102"/>
              <a:gd name="connsiteX36" fmla="*/ 188199 w 319766"/>
              <a:gd name="connsiteY36" fmla="*/ 59406 h 360102"/>
              <a:gd name="connsiteX37" fmla="*/ 214088 w 319766"/>
              <a:gd name="connsiteY37" fmla="*/ 85287 h 360102"/>
              <a:gd name="connsiteX38" fmla="*/ 215583 w 319766"/>
              <a:gd name="connsiteY38" fmla="*/ 85287 h 360102"/>
              <a:gd name="connsiteX39" fmla="*/ 241473 w 319766"/>
              <a:gd name="connsiteY39" fmla="*/ 59406 h 360102"/>
              <a:gd name="connsiteX40" fmla="*/ 241473 w 319766"/>
              <a:gd name="connsiteY40" fmla="*/ 40431 h 360102"/>
              <a:gd name="connsiteX41" fmla="*/ 281882 w 319766"/>
              <a:gd name="connsiteY41" fmla="*/ 40431 h 360102"/>
              <a:gd name="connsiteX42" fmla="*/ 319766 w 319766"/>
              <a:gd name="connsiteY42" fmla="*/ 78306 h 360102"/>
              <a:gd name="connsiteX43" fmla="*/ 319766 w 319766"/>
              <a:gd name="connsiteY43" fmla="*/ 322226 h 360102"/>
              <a:gd name="connsiteX44" fmla="*/ 281882 w 319766"/>
              <a:gd name="connsiteY44" fmla="*/ 360102 h 360102"/>
              <a:gd name="connsiteX45" fmla="*/ 37885 w 319766"/>
              <a:gd name="connsiteY45" fmla="*/ 360102 h 360102"/>
              <a:gd name="connsiteX46" fmla="*/ 0 w 319766"/>
              <a:gd name="connsiteY46" fmla="*/ 322226 h 360102"/>
              <a:gd name="connsiteX47" fmla="*/ 0 w 319766"/>
              <a:gd name="connsiteY47" fmla="*/ 78306 h 360102"/>
              <a:gd name="connsiteX48" fmla="*/ 37885 w 319766"/>
              <a:gd name="connsiteY48" fmla="*/ 40431 h 360102"/>
              <a:gd name="connsiteX49" fmla="*/ 213979 w 319766"/>
              <a:gd name="connsiteY49" fmla="*/ 0 h 360102"/>
              <a:gd name="connsiteX50" fmla="*/ 215098 w 319766"/>
              <a:gd name="connsiteY50" fmla="*/ 0 h 360102"/>
              <a:gd name="connsiteX51" fmla="*/ 234433 w 319766"/>
              <a:gd name="connsiteY51" fmla="*/ 19335 h 360102"/>
              <a:gd name="connsiteX52" fmla="*/ 234433 w 319766"/>
              <a:gd name="connsiteY52" fmla="*/ 58762 h 360102"/>
              <a:gd name="connsiteX53" fmla="*/ 215098 w 319766"/>
              <a:gd name="connsiteY53" fmla="*/ 78095 h 360102"/>
              <a:gd name="connsiteX54" fmla="*/ 213979 w 319766"/>
              <a:gd name="connsiteY54" fmla="*/ 78095 h 360102"/>
              <a:gd name="connsiteX55" fmla="*/ 194638 w 319766"/>
              <a:gd name="connsiteY55" fmla="*/ 58763 h 360102"/>
              <a:gd name="connsiteX56" fmla="*/ 194638 w 319766"/>
              <a:gd name="connsiteY56" fmla="*/ 19335 h 360102"/>
              <a:gd name="connsiteX57" fmla="*/ 213979 w 319766"/>
              <a:gd name="connsiteY57" fmla="*/ 0 h 360102"/>
              <a:gd name="connsiteX58" fmla="*/ 104383 w 319766"/>
              <a:gd name="connsiteY58" fmla="*/ 0 h 360102"/>
              <a:gd name="connsiteX59" fmla="*/ 105501 w 319766"/>
              <a:gd name="connsiteY59" fmla="*/ 0 h 360102"/>
              <a:gd name="connsiteX60" fmla="*/ 124840 w 319766"/>
              <a:gd name="connsiteY60" fmla="*/ 19335 h 360102"/>
              <a:gd name="connsiteX61" fmla="*/ 124840 w 319766"/>
              <a:gd name="connsiteY61" fmla="*/ 58762 h 360102"/>
              <a:gd name="connsiteX62" fmla="*/ 105501 w 319766"/>
              <a:gd name="connsiteY62" fmla="*/ 78095 h 360102"/>
              <a:gd name="connsiteX63" fmla="*/ 104383 w 319766"/>
              <a:gd name="connsiteY63" fmla="*/ 78095 h 360102"/>
              <a:gd name="connsiteX64" fmla="*/ 85043 w 319766"/>
              <a:gd name="connsiteY64" fmla="*/ 58763 h 360102"/>
              <a:gd name="connsiteX65" fmla="*/ 85043 w 319766"/>
              <a:gd name="connsiteY65" fmla="*/ 19335 h 360102"/>
              <a:gd name="connsiteX66" fmla="*/ 104383 w 319766"/>
              <a:gd name="connsiteY66" fmla="*/ 0 h 36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319766" h="360102">
                <a:moveTo>
                  <a:pt x="129061" y="235468"/>
                </a:moveTo>
                <a:lnTo>
                  <a:pt x="190704" y="235468"/>
                </a:lnTo>
                <a:lnTo>
                  <a:pt x="190704" y="297097"/>
                </a:lnTo>
                <a:lnTo>
                  <a:pt x="129061" y="297097"/>
                </a:lnTo>
                <a:close/>
                <a:moveTo>
                  <a:pt x="50856" y="235468"/>
                </a:moveTo>
                <a:lnTo>
                  <a:pt x="112500" y="235468"/>
                </a:lnTo>
                <a:lnTo>
                  <a:pt x="112500" y="297097"/>
                </a:lnTo>
                <a:lnTo>
                  <a:pt x="50856" y="297097"/>
                </a:lnTo>
                <a:close/>
                <a:moveTo>
                  <a:pt x="207286" y="145738"/>
                </a:moveTo>
                <a:lnTo>
                  <a:pt x="268929" y="145738"/>
                </a:lnTo>
                <a:lnTo>
                  <a:pt x="268929" y="207368"/>
                </a:lnTo>
                <a:lnTo>
                  <a:pt x="207286" y="207368"/>
                </a:lnTo>
                <a:close/>
                <a:moveTo>
                  <a:pt x="129061" y="145738"/>
                </a:moveTo>
                <a:lnTo>
                  <a:pt x="190704" y="145738"/>
                </a:lnTo>
                <a:lnTo>
                  <a:pt x="190704" y="207368"/>
                </a:lnTo>
                <a:lnTo>
                  <a:pt x="129061" y="207368"/>
                </a:lnTo>
                <a:close/>
                <a:moveTo>
                  <a:pt x="50856" y="145738"/>
                </a:moveTo>
                <a:lnTo>
                  <a:pt x="112500" y="145738"/>
                </a:lnTo>
                <a:lnTo>
                  <a:pt x="112500" y="207368"/>
                </a:lnTo>
                <a:lnTo>
                  <a:pt x="50856" y="207368"/>
                </a:lnTo>
                <a:close/>
                <a:moveTo>
                  <a:pt x="31301" y="113025"/>
                </a:moveTo>
                <a:cubicBezTo>
                  <a:pt x="27693" y="113025"/>
                  <a:pt x="24769" y="115948"/>
                  <a:pt x="24769" y="119555"/>
                </a:cubicBezTo>
                <a:lnTo>
                  <a:pt x="24769" y="324932"/>
                </a:lnTo>
                <a:cubicBezTo>
                  <a:pt x="24769" y="328539"/>
                  <a:pt x="27694" y="331460"/>
                  <a:pt x="31301" y="331460"/>
                </a:cubicBezTo>
                <a:lnTo>
                  <a:pt x="288487" y="331460"/>
                </a:lnTo>
                <a:cubicBezTo>
                  <a:pt x="292094" y="331460"/>
                  <a:pt x="295016" y="328539"/>
                  <a:pt x="295016" y="324932"/>
                </a:cubicBezTo>
                <a:lnTo>
                  <a:pt x="294999" y="119555"/>
                </a:lnTo>
                <a:cubicBezTo>
                  <a:pt x="294999" y="115948"/>
                  <a:pt x="292076" y="113025"/>
                  <a:pt x="288467" y="113025"/>
                </a:cubicBezTo>
                <a:close/>
                <a:moveTo>
                  <a:pt x="37885" y="40431"/>
                </a:moveTo>
                <a:lnTo>
                  <a:pt x="78296" y="40431"/>
                </a:lnTo>
                <a:lnTo>
                  <a:pt x="78296" y="59406"/>
                </a:lnTo>
                <a:cubicBezTo>
                  <a:pt x="78296" y="73708"/>
                  <a:pt x="89896" y="85287"/>
                  <a:pt x="104184" y="85287"/>
                </a:cubicBezTo>
                <a:lnTo>
                  <a:pt x="105664" y="85287"/>
                </a:lnTo>
                <a:cubicBezTo>
                  <a:pt x="119970" y="85287"/>
                  <a:pt x="131552" y="73690"/>
                  <a:pt x="131552" y="59406"/>
                </a:cubicBezTo>
                <a:lnTo>
                  <a:pt x="131552" y="40431"/>
                </a:lnTo>
                <a:lnTo>
                  <a:pt x="188199" y="40431"/>
                </a:lnTo>
                <a:lnTo>
                  <a:pt x="188199" y="59406"/>
                </a:lnTo>
                <a:cubicBezTo>
                  <a:pt x="188199" y="73708"/>
                  <a:pt x="199798" y="85287"/>
                  <a:pt x="214088" y="85287"/>
                </a:cubicBezTo>
                <a:lnTo>
                  <a:pt x="215583" y="85287"/>
                </a:lnTo>
                <a:cubicBezTo>
                  <a:pt x="229891" y="85287"/>
                  <a:pt x="241473" y="73690"/>
                  <a:pt x="241473" y="59406"/>
                </a:cubicBezTo>
                <a:lnTo>
                  <a:pt x="241473" y="40431"/>
                </a:lnTo>
                <a:lnTo>
                  <a:pt x="281882" y="40431"/>
                </a:lnTo>
                <a:cubicBezTo>
                  <a:pt x="302809" y="40431"/>
                  <a:pt x="319768" y="57386"/>
                  <a:pt x="319766" y="78306"/>
                </a:cubicBezTo>
                <a:lnTo>
                  <a:pt x="319766" y="322226"/>
                </a:lnTo>
                <a:cubicBezTo>
                  <a:pt x="319766" y="343147"/>
                  <a:pt x="302809" y="360102"/>
                  <a:pt x="281882" y="360102"/>
                </a:cubicBezTo>
                <a:lnTo>
                  <a:pt x="37885" y="360102"/>
                </a:lnTo>
                <a:cubicBezTo>
                  <a:pt x="16959" y="360102"/>
                  <a:pt x="0" y="343147"/>
                  <a:pt x="0" y="322226"/>
                </a:cubicBezTo>
                <a:lnTo>
                  <a:pt x="0" y="78306"/>
                </a:lnTo>
                <a:cubicBezTo>
                  <a:pt x="0" y="57385"/>
                  <a:pt x="16959" y="40431"/>
                  <a:pt x="37885" y="40431"/>
                </a:cubicBezTo>
                <a:close/>
                <a:moveTo>
                  <a:pt x="213979" y="0"/>
                </a:moveTo>
                <a:lnTo>
                  <a:pt x="215098" y="0"/>
                </a:lnTo>
                <a:cubicBezTo>
                  <a:pt x="225777" y="0"/>
                  <a:pt x="234433" y="8658"/>
                  <a:pt x="234433" y="19335"/>
                </a:cubicBezTo>
                <a:lnTo>
                  <a:pt x="234433" y="58762"/>
                </a:lnTo>
                <a:cubicBezTo>
                  <a:pt x="234433" y="69439"/>
                  <a:pt x="225777" y="78095"/>
                  <a:pt x="215098" y="78095"/>
                </a:cubicBezTo>
                <a:lnTo>
                  <a:pt x="213979" y="78095"/>
                </a:lnTo>
                <a:cubicBezTo>
                  <a:pt x="203298" y="78095"/>
                  <a:pt x="194638" y="69439"/>
                  <a:pt x="194638" y="58763"/>
                </a:cubicBezTo>
                <a:lnTo>
                  <a:pt x="194638" y="19335"/>
                </a:lnTo>
                <a:cubicBezTo>
                  <a:pt x="194638" y="8658"/>
                  <a:pt x="203298" y="0"/>
                  <a:pt x="213979" y="0"/>
                </a:cubicBezTo>
                <a:close/>
                <a:moveTo>
                  <a:pt x="104383" y="0"/>
                </a:moveTo>
                <a:lnTo>
                  <a:pt x="105501" y="0"/>
                </a:lnTo>
                <a:cubicBezTo>
                  <a:pt x="116180" y="0"/>
                  <a:pt x="124839" y="8658"/>
                  <a:pt x="124840" y="19335"/>
                </a:cubicBezTo>
                <a:lnTo>
                  <a:pt x="124840" y="58762"/>
                </a:lnTo>
                <a:cubicBezTo>
                  <a:pt x="124840" y="69439"/>
                  <a:pt x="116181" y="78095"/>
                  <a:pt x="105501" y="78095"/>
                </a:cubicBezTo>
                <a:lnTo>
                  <a:pt x="104383" y="78095"/>
                </a:lnTo>
                <a:cubicBezTo>
                  <a:pt x="93702" y="78095"/>
                  <a:pt x="85043" y="69439"/>
                  <a:pt x="85043" y="58763"/>
                </a:cubicBezTo>
                <a:lnTo>
                  <a:pt x="85043" y="19335"/>
                </a:lnTo>
                <a:cubicBezTo>
                  <a:pt x="85043" y="8658"/>
                  <a:pt x="93702" y="0"/>
                  <a:pt x="104383" y="0"/>
                </a:cubicBezTo>
                <a:close/>
              </a:path>
            </a:pathLst>
          </a:custGeom>
          <a:solidFill>
            <a:srgbClr val="FFFFFF"/>
          </a:solidFill>
          <a:ln w="1305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任意多边形: 形状 27"/>
          <p:cNvSpPr/>
          <p:nvPr>
            <p:custDataLst>
              <p:tags r:id="rId10"/>
            </p:custDataLst>
          </p:nvPr>
        </p:nvSpPr>
        <p:spPr>
          <a:xfrm>
            <a:off x="6826499" y="4319655"/>
            <a:ext cx="327901" cy="327901"/>
          </a:xfrm>
          <a:custGeom>
            <a:avLst/>
            <a:gdLst>
              <a:gd name="connsiteX0" fmla="*/ 66720 w 359999"/>
              <a:gd name="connsiteY0" fmla="*/ 251342 h 359999"/>
              <a:gd name="connsiteX1" fmla="*/ 78859 w 359999"/>
              <a:gd name="connsiteY1" fmla="*/ 270114 h 359999"/>
              <a:gd name="connsiteX2" fmla="*/ 33879 w 359999"/>
              <a:gd name="connsiteY2" fmla="*/ 303879 h 359999"/>
              <a:gd name="connsiteX3" fmla="*/ 180114 w 359999"/>
              <a:gd name="connsiteY3" fmla="*/ 337644 h 359999"/>
              <a:gd name="connsiteX4" fmla="*/ 326348 w 359999"/>
              <a:gd name="connsiteY4" fmla="*/ 303879 h 359999"/>
              <a:gd name="connsiteX5" fmla="*/ 270114 w 359999"/>
              <a:gd name="connsiteY5" fmla="*/ 270114 h 359999"/>
              <a:gd name="connsiteX6" fmla="*/ 286876 w 359999"/>
              <a:gd name="connsiteY6" fmla="*/ 249613 h 359999"/>
              <a:gd name="connsiteX7" fmla="*/ 360113 w 359999"/>
              <a:gd name="connsiteY7" fmla="*/ 303838 h 359999"/>
              <a:gd name="connsiteX8" fmla="*/ 180114 w 359999"/>
              <a:gd name="connsiteY8" fmla="*/ 360113 h 359999"/>
              <a:gd name="connsiteX9" fmla="*/ 114 w 359999"/>
              <a:gd name="connsiteY9" fmla="*/ 303838 h 359999"/>
              <a:gd name="connsiteX10" fmla="*/ 66720 w 359999"/>
              <a:gd name="connsiteY10" fmla="*/ 251342 h 359999"/>
              <a:gd name="connsiteX11" fmla="*/ 180114 w 359999"/>
              <a:gd name="connsiteY11" fmla="*/ 315093 h 359999"/>
              <a:gd name="connsiteX12" fmla="*/ 45134 w 359999"/>
              <a:gd name="connsiteY12" fmla="*/ 136180 h 359999"/>
              <a:gd name="connsiteX13" fmla="*/ 180114 w 359999"/>
              <a:gd name="connsiteY13" fmla="*/ 114 h 359999"/>
              <a:gd name="connsiteX14" fmla="*/ 315093 w 359999"/>
              <a:gd name="connsiteY14" fmla="*/ 136180 h 359999"/>
              <a:gd name="connsiteX15" fmla="*/ 180114 w 359999"/>
              <a:gd name="connsiteY15" fmla="*/ 315093 h 359999"/>
              <a:gd name="connsiteX16" fmla="*/ 180114 w 359999"/>
              <a:gd name="connsiteY16" fmla="*/ 157483 h 359999"/>
              <a:gd name="connsiteX17" fmla="*/ 213879 w 359999"/>
              <a:gd name="connsiteY17" fmla="*/ 123799 h 359999"/>
              <a:gd name="connsiteX18" fmla="*/ 180114 w 359999"/>
              <a:gd name="connsiteY18" fmla="*/ 90114 h 359999"/>
              <a:gd name="connsiteX19" fmla="*/ 146349 w 359999"/>
              <a:gd name="connsiteY19" fmla="*/ 123799 h 359999"/>
              <a:gd name="connsiteX20" fmla="*/ 180114 w 359999"/>
              <a:gd name="connsiteY20" fmla="*/ 157483 h 3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9999" h="359999">
                <a:moveTo>
                  <a:pt x="66720" y="251342"/>
                </a:moveTo>
                <a:lnTo>
                  <a:pt x="78859" y="270114"/>
                </a:lnTo>
                <a:cubicBezTo>
                  <a:pt x="49837" y="280163"/>
                  <a:pt x="33879" y="291941"/>
                  <a:pt x="33879" y="303879"/>
                </a:cubicBezTo>
                <a:cubicBezTo>
                  <a:pt x="33879" y="328037"/>
                  <a:pt x="109810" y="337644"/>
                  <a:pt x="180114" y="337644"/>
                </a:cubicBezTo>
                <a:cubicBezTo>
                  <a:pt x="250417" y="337644"/>
                  <a:pt x="326348" y="328077"/>
                  <a:pt x="326348" y="303879"/>
                </a:cubicBezTo>
                <a:cubicBezTo>
                  <a:pt x="326348" y="291056"/>
                  <a:pt x="302673" y="280444"/>
                  <a:pt x="270114" y="270114"/>
                </a:cubicBezTo>
                <a:lnTo>
                  <a:pt x="286876" y="249613"/>
                </a:lnTo>
                <a:cubicBezTo>
                  <a:pt x="331293" y="260749"/>
                  <a:pt x="360113" y="283660"/>
                  <a:pt x="360113" y="303838"/>
                </a:cubicBezTo>
                <a:cubicBezTo>
                  <a:pt x="360113" y="337644"/>
                  <a:pt x="279520" y="360113"/>
                  <a:pt x="180114" y="360113"/>
                </a:cubicBezTo>
                <a:cubicBezTo>
                  <a:pt x="80708" y="360113"/>
                  <a:pt x="114" y="337644"/>
                  <a:pt x="114" y="303838"/>
                </a:cubicBezTo>
                <a:cubicBezTo>
                  <a:pt x="114" y="284665"/>
                  <a:pt x="26081" y="262597"/>
                  <a:pt x="66720" y="251342"/>
                </a:cubicBezTo>
                <a:moveTo>
                  <a:pt x="180114" y="315093"/>
                </a:moveTo>
                <a:cubicBezTo>
                  <a:pt x="180114" y="315093"/>
                  <a:pt x="45134" y="219667"/>
                  <a:pt x="45134" y="136180"/>
                </a:cubicBezTo>
                <a:cubicBezTo>
                  <a:pt x="45134" y="52691"/>
                  <a:pt x="105550" y="114"/>
                  <a:pt x="180114" y="114"/>
                </a:cubicBezTo>
                <a:cubicBezTo>
                  <a:pt x="254679" y="114"/>
                  <a:pt x="315093" y="54219"/>
                  <a:pt x="315093" y="136180"/>
                </a:cubicBezTo>
                <a:cubicBezTo>
                  <a:pt x="315093" y="218180"/>
                  <a:pt x="180114" y="315093"/>
                  <a:pt x="180114" y="315093"/>
                </a:cubicBezTo>
                <a:moveTo>
                  <a:pt x="180114" y="157483"/>
                </a:moveTo>
                <a:cubicBezTo>
                  <a:pt x="198725" y="157483"/>
                  <a:pt x="213879" y="142409"/>
                  <a:pt x="213879" y="123799"/>
                </a:cubicBezTo>
                <a:cubicBezTo>
                  <a:pt x="213879" y="105188"/>
                  <a:pt x="198765" y="90114"/>
                  <a:pt x="180114" y="90114"/>
                </a:cubicBezTo>
                <a:cubicBezTo>
                  <a:pt x="161503" y="90114"/>
                  <a:pt x="146349" y="105188"/>
                  <a:pt x="146349" y="123799"/>
                </a:cubicBezTo>
                <a:cubicBezTo>
                  <a:pt x="146349" y="142409"/>
                  <a:pt x="161503" y="157483"/>
                  <a:pt x="180114" y="157483"/>
                </a:cubicBezTo>
              </a:path>
            </a:pathLst>
          </a:custGeom>
          <a:solidFill>
            <a:srgbClr val="FFFFFF"/>
          </a:solidFill>
          <a:ln w="125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任意多边形: 形状 28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7046853" y="3174068"/>
            <a:ext cx="280931" cy="327901"/>
          </a:xfrm>
          <a:custGeom>
            <a:avLst/>
            <a:gdLst>
              <a:gd name="connsiteX0" fmla="*/ 298106 w 308432"/>
              <a:gd name="connsiteY0" fmla="*/ 46306 h 360000"/>
              <a:gd name="connsiteX1" fmla="*/ 248915 w 308432"/>
              <a:gd name="connsiteY1" fmla="*/ 46306 h 360000"/>
              <a:gd name="connsiteX2" fmla="*/ 248915 w 308432"/>
              <a:gd name="connsiteY2" fmla="*/ 78324 h 360000"/>
              <a:gd name="connsiteX3" fmla="*/ 223176 w 308432"/>
              <a:gd name="connsiteY3" fmla="*/ 104063 h 360000"/>
              <a:gd name="connsiteX4" fmla="*/ 84871 w 308432"/>
              <a:gd name="connsiteY4" fmla="*/ 104063 h 360000"/>
              <a:gd name="connsiteX5" fmla="*/ 59132 w 308432"/>
              <a:gd name="connsiteY5" fmla="*/ 78324 h 360000"/>
              <a:gd name="connsiteX6" fmla="*/ 59132 w 308432"/>
              <a:gd name="connsiteY6" fmla="*/ 46306 h 360000"/>
              <a:gd name="connsiteX7" fmla="*/ 11520 w 308432"/>
              <a:gd name="connsiteY7" fmla="*/ 46306 h 360000"/>
              <a:gd name="connsiteX8" fmla="*/ 116 w 308432"/>
              <a:gd name="connsiteY8" fmla="*/ 59787 h 360000"/>
              <a:gd name="connsiteX9" fmla="*/ 116 w 308432"/>
              <a:gd name="connsiteY9" fmla="*/ 346633 h 360000"/>
              <a:gd name="connsiteX10" fmla="*/ 12460 w 308432"/>
              <a:gd name="connsiteY10" fmla="*/ 360114 h 360000"/>
              <a:gd name="connsiteX11" fmla="*/ 296205 w 308432"/>
              <a:gd name="connsiteY11" fmla="*/ 360114 h 360000"/>
              <a:gd name="connsiteX12" fmla="*/ 308548 w 308432"/>
              <a:gd name="connsiteY12" fmla="*/ 346633 h 360000"/>
              <a:gd name="connsiteX13" fmla="*/ 308548 w 308432"/>
              <a:gd name="connsiteY13" fmla="*/ 59787 h 360000"/>
              <a:gd name="connsiteX14" fmla="*/ 296205 w 308432"/>
              <a:gd name="connsiteY14" fmla="*/ 46306 h 360000"/>
              <a:gd name="connsiteX15" fmla="*/ 298106 w 308432"/>
              <a:gd name="connsiteY15" fmla="*/ 46306 h 360000"/>
              <a:gd name="connsiteX16" fmla="*/ 140569 w 308432"/>
              <a:gd name="connsiteY16" fmla="*/ 298524 h 360000"/>
              <a:gd name="connsiteX17" fmla="*/ 136767 w 308432"/>
              <a:gd name="connsiteY17" fmla="*/ 299472 h 360000"/>
              <a:gd name="connsiteX18" fmla="*/ 56109 w 308432"/>
              <a:gd name="connsiteY18" fmla="*/ 232066 h 360000"/>
              <a:gd name="connsiteX19" fmla="*/ 55170 w 308432"/>
              <a:gd name="connsiteY19" fmla="*/ 226317 h 360000"/>
              <a:gd name="connsiteX20" fmla="*/ 68453 w 308432"/>
              <a:gd name="connsiteY20" fmla="*/ 208981 h 360000"/>
              <a:gd name="connsiteX21" fmla="*/ 74155 w 308432"/>
              <a:gd name="connsiteY21" fmla="*/ 208012 h 360000"/>
              <a:gd name="connsiteX22" fmla="*/ 134889 w 308432"/>
              <a:gd name="connsiteY22" fmla="*/ 259998 h 360000"/>
              <a:gd name="connsiteX23" fmla="*/ 229769 w 308432"/>
              <a:gd name="connsiteY23" fmla="*/ 140628 h 360000"/>
              <a:gd name="connsiteX24" fmla="*/ 235471 w 308432"/>
              <a:gd name="connsiteY24" fmla="*/ 139682 h 360000"/>
              <a:gd name="connsiteX25" fmla="*/ 250655 w 308432"/>
              <a:gd name="connsiteY25" fmla="*/ 153163 h 360000"/>
              <a:gd name="connsiteX26" fmla="*/ 251594 w 308432"/>
              <a:gd name="connsiteY26" fmla="*/ 159881 h 360000"/>
              <a:gd name="connsiteX27" fmla="*/ 140569 w 308432"/>
              <a:gd name="connsiteY27" fmla="*/ 298524 h 360000"/>
              <a:gd name="connsiteX28" fmla="*/ 202425 w 308432"/>
              <a:gd name="connsiteY28" fmla="*/ 28970 h 360000"/>
              <a:gd name="connsiteX29" fmla="*/ 202425 w 308432"/>
              <a:gd name="connsiteY29" fmla="*/ 17450 h 360000"/>
              <a:gd name="connsiteX30" fmla="*/ 182500 w 308432"/>
              <a:gd name="connsiteY30" fmla="*/ 114 h 360000"/>
              <a:gd name="connsiteX31" fmla="*/ 124584 w 308432"/>
              <a:gd name="connsiteY31" fmla="*/ 114 h 360000"/>
              <a:gd name="connsiteX32" fmla="*/ 104682 w 308432"/>
              <a:gd name="connsiteY32" fmla="*/ 17450 h 360000"/>
              <a:gd name="connsiteX33" fmla="*/ 104682 w 308432"/>
              <a:gd name="connsiteY33" fmla="*/ 28992 h 360000"/>
              <a:gd name="connsiteX34" fmla="*/ 94765 w 308432"/>
              <a:gd name="connsiteY34" fmla="*/ 28992 h 360000"/>
              <a:gd name="connsiteX35" fmla="*/ 81896 w 308432"/>
              <a:gd name="connsiteY35" fmla="*/ 41862 h 360000"/>
              <a:gd name="connsiteX36" fmla="*/ 81896 w 308432"/>
              <a:gd name="connsiteY36" fmla="*/ 73880 h 360000"/>
              <a:gd name="connsiteX37" fmla="*/ 94765 w 308432"/>
              <a:gd name="connsiteY37" fmla="*/ 86749 h 360000"/>
              <a:gd name="connsiteX38" fmla="*/ 212319 w 308432"/>
              <a:gd name="connsiteY38" fmla="*/ 86749 h 360000"/>
              <a:gd name="connsiteX39" fmla="*/ 225188 w 308432"/>
              <a:gd name="connsiteY39" fmla="*/ 73880 h 360000"/>
              <a:gd name="connsiteX40" fmla="*/ 225188 w 308432"/>
              <a:gd name="connsiteY40" fmla="*/ 41839 h 360000"/>
              <a:gd name="connsiteX41" fmla="*/ 212319 w 308432"/>
              <a:gd name="connsiteY41" fmla="*/ 28970 h 360000"/>
              <a:gd name="connsiteX42" fmla="*/ 202425 w 308432"/>
              <a:gd name="connsiteY42" fmla="*/ 28970 h 360000"/>
              <a:gd name="connsiteX43" fmla="*/ 133148 w 308432"/>
              <a:gd name="connsiteY43" fmla="*/ 42451 h 360000"/>
              <a:gd name="connsiteX44" fmla="*/ 154012 w 308432"/>
              <a:gd name="connsiteY44" fmla="*/ 21260 h 360000"/>
              <a:gd name="connsiteX45" fmla="*/ 174897 w 308432"/>
              <a:gd name="connsiteY45" fmla="*/ 42451 h 360000"/>
              <a:gd name="connsiteX46" fmla="*/ 154012 w 308432"/>
              <a:gd name="connsiteY46" fmla="*/ 63642 h 360000"/>
              <a:gd name="connsiteX47" fmla="*/ 133148 w 308432"/>
              <a:gd name="connsiteY47" fmla="*/ 42451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8432" h="360000">
                <a:moveTo>
                  <a:pt x="298106" y="46306"/>
                </a:moveTo>
                <a:lnTo>
                  <a:pt x="248915" y="46306"/>
                </a:lnTo>
                <a:lnTo>
                  <a:pt x="248915" y="78324"/>
                </a:lnTo>
                <a:cubicBezTo>
                  <a:pt x="248915" y="92539"/>
                  <a:pt x="237390" y="104063"/>
                  <a:pt x="223176" y="104063"/>
                </a:cubicBezTo>
                <a:lnTo>
                  <a:pt x="84871" y="104063"/>
                </a:lnTo>
                <a:cubicBezTo>
                  <a:pt x="70656" y="104063"/>
                  <a:pt x="59132" y="92539"/>
                  <a:pt x="59132" y="78324"/>
                </a:cubicBezTo>
                <a:lnTo>
                  <a:pt x="59132" y="46306"/>
                </a:lnTo>
                <a:lnTo>
                  <a:pt x="11520" y="46306"/>
                </a:lnTo>
                <a:cubicBezTo>
                  <a:pt x="4879" y="46306"/>
                  <a:pt x="116" y="53047"/>
                  <a:pt x="116" y="59787"/>
                </a:cubicBezTo>
                <a:lnTo>
                  <a:pt x="116" y="346633"/>
                </a:lnTo>
                <a:cubicBezTo>
                  <a:pt x="116" y="354343"/>
                  <a:pt x="5818" y="360114"/>
                  <a:pt x="12460" y="360114"/>
                </a:cubicBezTo>
                <a:lnTo>
                  <a:pt x="296205" y="360114"/>
                </a:lnTo>
                <a:cubicBezTo>
                  <a:pt x="302846" y="360114"/>
                  <a:pt x="308548" y="354343"/>
                  <a:pt x="308548" y="346633"/>
                </a:cubicBezTo>
                <a:lnTo>
                  <a:pt x="308548" y="59787"/>
                </a:lnTo>
                <a:cubicBezTo>
                  <a:pt x="308548" y="52077"/>
                  <a:pt x="302846" y="46306"/>
                  <a:pt x="296205" y="46306"/>
                </a:cubicBezTo>
                <a:lnTo>
                  <a:pt x="298106" y="46306"/>
                </a:lnTo>
                <a:moveTo>
                  <a:pt x="140569" y="298524"/>
                </a:moveTo>
                <a:cubicBezTo>
                  <a:pt x="141530" y="300441"/>
                  <a:pt x="138668" y="300441"/>
                  <a:pt x="136767" y="299472"/>
                </a:cubicBezTo>
                <a:lnTo>
                  <a:pt x="56109" y="232066"/>
                </a:lnTo>
                <a:cubicBezTo>
                  <a:pt x="54208" y="231119"/>
                  <a:pt x="54208" y="228234"/>
                  <a:pt x="55170" y="226317"/>
                </a:cubicBezTo>
                <a:lnTo>
                  <a:pt x="68453" y="208981"/>
                </a:lnTo>
                <a:cubicBezTo>
                  <a:pt x="69392" y="207064"/>
                  <a:pt x="72254" y="207064"/>
                  <a:pt x="74155" y="208012"/>
                </a:cubicBezTo>
                <a:lnTo>
                  <a:pt x="134889" y="259998"/>
                </a:lnTo>
                <a:lnTo>
                  <a:pt x="229769" y="140628"/>
                </a:lnTo>
                <a:cubicBezTo>
                  <a:pt x="230730" y="137743"/>
                  <a:pt x="233570" y="137743"/>
                  <a:pt x="235471" y="139682"/>
                </a:cubicBezTo>
                <a:lnTo>
                  <a:pt x="250655" y="153163"/>
                </a:lnTo>
                <a:cubicBezTo>
                  <a:pt x="253495" y="154110"/>
                  <a:pt x="254456" y="156048"/>
                  <a:pt x="251594" y="159881"/>
                </a:cubicBezTo>
                <a:lnTo>
                  <a:pt x="140569" y="298524"/>
                </a:lnTo>
                <a:moveTo>
                  <a:pt x="202425" y="28970"/>
                </a:moveTo>
                <a:lnTo>
                  <a:pt x="202425" y="17450"/>
                </a:lnTo>
                <a:cubicBezTo>
                  <a:pt x="202425" y="6855"/>
                  <a:pt x="192921" y="114"/>
                  <a:pt x="182500" y="114"/>
                </a:cubicBezTo>
                <a:lnTo>
                  <a:pt x="124584" y="114"/>
                </a:lnTo>
                <a:cubicBezTo>
                  <a:pt x="114164" y="114"/>
                  <a:pt x="104682" y="6877"/>
                  <a:pt x="104682" y="17450"/>
                </a:cubicBezTo>
                <a:lnTo>
                  <a:pt x="104682" y="28992"/>
                </a:lnTo>
                <a:lnTo>
                  <a:pt x="94765" y="28992"/>
                </a:lnTo>
                <a:cubicBezTo>
                  <a:pt x="87658" y="28992"/>
                  <a:pt x="81896" y="34754"/>
                  <a:pt x="81896" y="41862"/>
                </a:cubicBezTo>
                <a:lnTo>
                  <a:pt x="81896" y="73880"/>
                </a:lnTo>
                <a:cubicBezTo>
                  <a:pt x="81896" y="80987"/>
                  <a:pt x="87658" y="86749"/>
                  <a:pt x="94765" y="86749"/>
                </a:cubicBezTo>
                <a:lnTo>
                  <a:pt x="212319" y="86749"/>
                </a:lnTo>
                <a:cubicBezTo>
                  <a:pt x="219427" y="86749"/>
                  <a:pt x="225188" y="80987"/>
                  <a:pt x="225188" y="73880"/>
                </a:cubicBezTo>
                <a:lnTo>
                  <a:pt x="225188" y="41839"/>
                </a:lnTo>
                <a:cubicBezTo>
                  <a:pt x="225188" y="34732"/>
                  <a:pt x="219427" y="28970"/>
                  <a:pt x="212319" y="28970"/>
                </a:cubicBezTo>
                <a:lnTo>
                  <a:pt x="202425" y="28970"/>
                </a:lnTo>
                <a:moveTo>
                  <a:pt x="133148" y="42451"/>
                </a:moveTo>
                <a:cubicBezTo>
                  <a:pt x="133148" y="30909"/>
                  <a:pt x="142630" y="21260"/>
                  <a:pt x="154012" y="21260"/>
                </a:cubicBezTo>
                <a:cubicBezTo>
                  <a:pt x="165416" y="21260"/>
                  <a:pt x="174897" y="30909"/>
                  <a:pt x="174897" y="42451"/>
                </a:cubicBezTo>
                <a:cubicBezTo>
                  <a:pt x="174897" y="55932"/>
                  <a:pt x="165416" y="63642"/>
                  <a:pt x="154012" y="63642"/>
                </a:cubicBezTo>
                <a:cubicBezTo>
                  <a:pt x="142498" y="63472"/>
                  <a:pt x="133220" y="54059"/>
                  <a:pt x="133148" y="42451"/>
                </a:cubicBezTo>
              </a:path>
            </a:pathLst>
          </a:custGeom>
          <a:solidFill>
            <a:srgbClr val="FFFFFF"/>
          </a:solidFill>
          <a:ln w="126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任意多边形: 形状 29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4841408" y="3976741"/>
            <a:ext cx="327902" cy="327901"/>
          </a:xfrm>
          <a:custGeom>
            <a:avLst/>
            <a:gdLst>
              <a:gd name="connsiteX0" fmla="*/ 180115 w 360000"/>
              <a:gd name="connsiteY0" fmla="*/ 360114 h 359999"/>
              <a:gd name="connsiteX1" fmla="*/ 114 w 360000"/>
              <a:gd name="connsiteY1" fmla="*/ 180114 h 359999"/>
              <a:gd name="connsiteX2" fmla="*/ 180115 w 360000"/>
              <a:gd name="connsiteY2" fmla="*/ 114 h 359999"/>
              <a:gd name="connsiteX3" fmla="*/ 360115 w 360000"/>
              <a:gd name="connsiteY3" fmla="*/ 180114 h 359999"/>
              <a:gd name="connsiteX4" fmla="*/ 180115 w 360000"/>
              <a:gd name="connsiteY4" fmla="*/ 360114 h 359999"/>
              <a:gd name="connsiteX5" fmla="*/ 297543 w 360000"/>
              <a:gd name="connsiteY5" fmla="*/ 208711 h 359999"/>
              <a:gd name="connsiteX6" fmla="*/ 306984 w 360000"/>
              <a:gd name="connsiteY6" fmla="*/ 185782 h 359999"/>
              <a:gd name="connsiteX7" fmla="*/ 297543 w 360000"/>
              <a:gd name="connsiteY7" fmla="*/ 162406 h 359999"/>
              <a:gd name="connsiteX8" fmla="*/ 274166 w 360000"/>
              <a:gd name="connsiteY8" fmla="*/ 152964 h 359999"/>
              <a:gd name="connsiteX9" fmla="*/ 250788 w 360000"/>
              <a:gd name="connsiteY9" fmla="*/ 162406 h 359999"/>
              <a:gd name="connsiteX10" fmla="*/ 248990 w 360000"/>
              <a:gd name="connsiteY10" fmla="*/ 165103 h 359999"/>
              <a:gd name="connsiteX11" fmla="*/ 194593 w 360000"/>
              <a:gd name="connsiteY11" fmla="*/ 142625 h 359999"/>
              <a:gd name="connsiteX12" fmla="*/ 194593 w 360000"/>
              <a:gd name="connsiteY12" fmla="*/ 134084 h 359999"/>
              <a:gd name="connsiteX13" fmla="*/ 178858 w 360000"/>
              <a:gd name="connsiteY13" fmla="*/ 94972 h 359999"/>
              <a:gd name="connsiteX14" fmla="*/ 138848 w 360000"/>
              <a:gd name="connsiteY14" fmla="*/ 78338 h 359999"/>
              <a:gd name="connsiteX15" fmla="*/ 99736 w 360000"/>
              <a:gd name="connsiteY15" fmla="*/ 94972 h 359999"/>
              <a:gd name="connsiteX16" fmla="*/ 83102 w 360000"/>
              <a:gd name="connsiteY16" fmla="*/ 134084 h 359999"/>
              <a:gd name="connsiteX17" fmla="*/ 99736 w 360000"/>
              <a:gd name="connsiteY17" fmla="*/ 174094 h 359999"/>
              <a:gd name="connsiteX18" fmla="*/ 129407 w 360000"/>
              <a:gd name="connsiteY18" fmla="*/ 189829 h 359999"/>
              <a:gd name="connsiteX19" fmla="*/ 129407 w 360000"/>
              <a:gd name="connsiteY19" fmla="*/ 220849 h 359999"/>
              <a:gd name="connsiteX20" fmla="*/ 113672 w 360000"/>
              <a:gd name="connsiteY20" fmla="*/ 230289 h 359999"/>
              <a:gd name="connsiteX21" fmla="*/ 101534 w 360000"/>
              <a:gd name="connsiteY21" fmla="*/ 259960 h 359999"/>
              <a:gd name="connsiteX22" fmla="*/ 113672 w 360000"/>
              <a:gd name="connsiteY22" fmla="*/ 289632 h 359999"/>
              <a:gd name="connsiteX23" fmla="*/ 143343 w 360000"/>
              <a:gd name="connsiteY23" fmla="*/ 301769 h 359999"/>
              <a:gd name="connsiteX24" fmla="*/ 173015 w 360000"/>
              <a:gd name="connsiteY24" fmla="*/ 289632 h 359999"/>
              <a:gd name="connsiteX25" fmla="*/ 185153 w 360000"/>
              <a:gd name="connsiteY25" fmla="*/ 259960 h 359999"/>
              <a:gd name="connsiteX26" fmla="*/ 184253 w 360000"/>
              <a:gd name="connsiteY26" fmla="*/ 250519 h 359999"/>
              <a:gd name="connsiteX27" fmla="*/ 252588 w 360000"/>
              <a:gd name="connsiteY27" fmla="*/ 209609 h 359999"/>
              <a:gd name="connsiteX28" fmla="*/ 274166 w 360000"/>
              <a:gd name="connsiteY28" fmla="*/ 218152 h 359999"/>
              <a:gd name="connsiteX29" fmla="*/ 297543 w 360000"/>
              <a:gd name="connsiteY29" fmla="*/ 208711 h 359999"/>
              <a:gd name="connsiteX30" fmla="*/ 242697 w 360000"/>
              <a:gd name="connsiteY30" fmla="*/ 181736 h 359999"/>
              <a:gd name="connsiteX31" fmla="*/ 241348 w 360000"/>
              <a:gd name="connsiteY31" fmla="*/ 184884 h 359999"/>
              <a:gd name="connsiteX32" fmla="*/ 243145 w 360000"/>
              <a:gd name="connsiteY32" fmla="*/ 194325 h 359999"/>
              <a:gd name="connsiteX33" fmla="*/ 174812 w 360000"/>
              <a:gd name="connsiteY33" fmla="*/ 232537 h 359999"/>
              <a:gd name="connsiteX34" fmla="*/ 173015 w 360000"/>
              <a:gd name="connsiteY34" fmla="*/ 229840 h 359999"/>
              <a:gd name="connsiteX35" fmla="*/ 147839 w 360000"/>
              <a:gd name="connsiteY35" fmla="*/ 218600 h 359999"/>
              <a:gd name="connsiteX36" fmla="*/ 147839 w 360000"/>
              <a:gd name="connsiteY36" fmla="*/ 189829 h 359999"/>
              <a:gd name="connsiteX37" fmla="*/ 178858 w 360000"/>
              <a:gd name="connsiteY37" fmla="*/ 174094 h 359999"/>
              <a:gd name="connsiteX38" fmla="*/ 188299 w 360000"/>
              <a:gd name="connsiteY38" fmla="*/ 161057 h 359999"/>
              <a:gd name="connsiteX39" fmla="*/ 242697 w 360000"/>
              <a:gd name="connsiteY39" fmla="*/ 181736 h 3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60000" h="359999">
                <a:moveTo>
                  <a:pt x="180115" y="360114"/>
                </a:moveTo>
                <a:cubicBezTo>
                  <a:pt x="80703" y="360114"/>
                  <a:pt x="114" y="279525"/>
                  <a:pt x="114" y="180114"/>
                </a:cubicBezTo>
                <a:cubicBezTo>
                  <a:pt x="114" y="80703"/>
                  <a:pt x="80703" y="114"/>
                  <a:pt x="180115" y="114"/>
                </a:cubicBezTo>
                <a:cubicBezTo>
                  <a:pt x="279526" y="114"/>
                  <a:pt x="360115" y="80703"/>
                  <a:pt x="360115" y="180114"/>
                </a:cubicBezTo>
                <a:cubicBezTo>
                  <a:pt x="360115" y="279525"/>
                  <a:pt x="279526" y="360114"/>
                  <a:pt x="180115" y="360114"/>
                </a:cubicBezTo>
                <a:moveTo>
                  <a:pt x="297543" y="208711"/>
                </a:moveTo>
                <a:cubicBezTo>
                  <a:pt x="304286" y="202417"/>
                  <a:pt x="306984" y="194775"/>
                  <a:pt x="306984" y="185782"/>
                </a:cubicBezTo>
                <a:cubicBezTo>
                  <a:pt x="306984" y="177241"/>
                  <a:pt x="304286" y="169149"/>
                  <a:pt x="297543" y="162406"/>
                </a:cubicBezTo>
                <a:cubicBezTo>
                  <a:pt x="290799" y="156562"/>
                  <a:pt x="283607" y="152964"/>
                  <a:pt x="274166" y="152964"/>
                </a:cubicBezTo>
                <a:cubicBezTo>
                  <a:pt x="265624" y="152964"/>
                  <a:pt x="257531" y="157011"/>
                  <a:pt x="250788" y="162406"/>
                </a:cubicBezTo>
                <a:cubicBezTo>
                  <a:pt x="250788" y="163305"/>
                  <a:pt x="249889" y="164204"/>
                  <a:pt x="248990" y="165103"/>
                </a:cubicBezTo>
                <a:lnTo>
                  <a:pt x="194593" y="142625"/>
                </a:lnTo>
                <a:lnTo>
                  <a:pt x="194593" y="134084"/>
                </a:lnTo>
                <a:cubicBezTo>
                  <a:pt x="194593" y="119248"/>
                  <a:pt x="189199" y="105312"/>
                  <a:pt x="178858" y="94972"/>
                </a:cubicBezTo>
                <a:cubicBezTo>
                  <a:pt x="167620" y="83733"/>
                  <a:pt x="154583" y="78338"/>
                  <a:pt x="138848" y="78338"/>
                </a:cubicBezTo>
                <a:cubicBezTo>
                  <a:pt x="124012" y="78338"/>
                  <a:pt x="110076" y="83733"/>
                  <a:pt x="99736" y="94972"/>
                </a:cubicBezTo>
                <a:cubicBezTo>
                  <a:pt x="88497" y="105312"/>
                  <a:pt x="83102" y="119248"/>
                  <a:pt x="83102" y="134084"/>
                </a:cubicBezTo>
                <a:cubicBezTo>
                  <a:pt x="83102" y="149818"/>
                  <a:pt x="88497" y="162856"/>
                  <a:pt x="99736" y="174094"/>
                </a:cubicBezTo>
                <a:cubicBezTo>
                  <a:pt x="107828" y="182186"/>
                  <a:pt x="118168" y="188031"/>
                  <a:pt x="129407" y="189829"/>
                </a:cubicBezTo>
                <a:lnTo>
                  <a:pt x="129407" y="220849"/>
                </a:lnTo>
                <a:cubicBezTo>
                  <a:pt x="124012" y="222646"/>
                  <a:pt x="118168" y="225794"/>
                  <a:pt x="113672" y="230289"/>
                </a:cubicBezTo>
                <a:cubicBezTo>
                  <a:pt x="106030" y="238381"/>
                  <a:pt x="101534" y="248721"/>
                  <a:pt x="101534" y="259960"/>
                </a:cubicBezTo>
                <a:cubicBezTo>
                  <a:pt x="101534" y="272099"/>
                  <a:pt x="106030" y="281090"/>
                  <a:pt x="113672" y="289632"/>
                </a:cubicBezTo>
                <a:cubicBezTo>
                  <a:pt x="121765" y="298173"/>
                  <a:pt x="132105" y="301769"/>
                  <a:pt x="143343" y="301769"/>
                </a:cubicBezTo>
                <a:cubicBezTo>
                  <a:pt x="155482" y="301769"/>
                  <a:pt x="164473" y="298173"/>
                  <a:pt x="173015" y="289632"/>
                </a:cubicBezTo>
                <a:cubicBezTo>
                  <a:pt x="181556" y="281539"/>
                  <a:pt x="185153" y="272099"/>
                  <a:pt x="185153" y="259960"/>
                </a:cubicBezTo>
                <a:cubicBezTo>
                  <a:pt x="185153" y="257263"/>
                  <a:pt x="185153" y="253217"/>
                  <a:pt x="184253" y="250519"/>
                </a:cubicBezTo>
                <a:lnTo>
                  <a:pt x="252588" y="209609"/>
                </a:lnTo>
                <a:cubicBezTo>
                  <a:pt x="258431" y="215454"/>
                  <a:pt x="265625" y="218152"/>
                  <a:pt x="274166" y="218152"/>
                </a:cubicBezTo>
                <a:cubicBezTo>
                  <a:pt x="283607" y="218152"/>
                  <a:pt x="291249" y="215454"/>
                  <a:pt x="297543" y="208711"/>
                </a:cubicBezTo>
                <a:moveTo>
                  <a:pt x="242697" y="181736"/>
                </a:moveTo>
                <a:cubicBezTo>
                  <a:pt x="241797" y="183535"/>
                  <a:pt x="241797" y="184434"/>
                  <a:pt x="241348" y="184884"/>
                </a:cubicBezTo>
                <a:cubicBezTo>
                  <a:pt x="241348" y="188930"/>
                  <a:pt x="242247" y="191627"/>
                  <a:pt x="243145" y="194325"/>
                </a:cubicBezTo>
                <a:lnTo>
                  <a:pt x="174812" y="232537"/>
                </a:lnTo>
                <a:cubicBezTo>
                  <a:pt x="173914" y="231637"/>
                  <a:pt x="173015" y="230739"/>
                  <a:pt x="173015" y="229840"/>
                </a:cubicBezTo>
                <a:cubicBezTo>
                  <a:pt x="165371" y="223096"/>
                  <a:pt x="158179" y="219500"/>
                  <a:pt x="147839" y="218600"/>
                </a:cubicBezTo>
                <a:lnTo>
                  <a:pt x="147839" y="189829"/>
                </a:lnTo>
                <a:cubicBezTo>
                  <a:pt x="159976" y="188031"/>
                  <a:pt x="169417" y="182636"/>
                  <a:pt x="178858" y="174094"/>
                </a:cubicBezTo>
                <a:cubicBezTo>
                  <a:pt x="182905" y="169599"/>
                  <a:pt x="186501" y="165553"/>
                  <a:pt x="188299" y="161057"/>
                </a:cubicBezTo>
                <a:lnTo>
                  <a:pt x="242697" y="181736"/>
                </a:lnTo>
              </a:path>
            </a:pathLst>
          </a:custGeom>
          <a:solidFill>
            <a:srgbClr val="FFFFFF"/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任意多边形: 形状 30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5052236" y="2831154"/>
            <a:ext cx="291422" cy="327901"/>
          </a:xfrm>
          <a:custGeom>
            <a:avLst/>
            <a:gdLst>
              <a:gd name="connsiteX0" fmla="*/ 241317 w 319950"/>
              <a:gd name="connsiteY0" fmla="*/ 115 h 360000"/>
              <a:gd name="connsiteX1" fmla="*/ 26784 w 319950"/>
              <a:gd name="connsiteY1" fmla="*/ 149 h 360000"/>
              <a:gd name="connsiteX2" fmla="*/ 120 w 319950"/>
              <a:gd name="connsiteY2" fmla="*/ 26817 h 360000"/>
              <a:gd name="connsiteX3" fmla="*/ 116 w 319950"/>
              <a:gd name="connsiteY3" fmla="*/ 333435 h 360000"/>
              <a:gd name="connsiteX4" fmla="*/ 26784 w 319950"/>
              <a:gd name="connsiteY4" fmla="*/ 360103 h 360000"/>
              <a:gd name="connsiteX5" fmla="*/ 293398 w 319950"/>
              <a:gd name="connsiteY5" fmla="*/ 360115 h 360000"/>
              <a:gd name="connsiteX6" fmla="*/ 320066 w 319950"/>
              <a:gd name="connsiteY6" fmla="*/ 333447 h 360000"/>
              <a:gd name="connsiteX7" fmla="*/ 320066 w 319950"/>
              <a:gd name="connsiteY7" fmla="*/ 333435 h 360000"/>
              <a:gd name="connsiteX8" fmla="*/ 319946 w 319950"/>
              <a:gd name="connsiteY8" fmla="*/ 77587 h 360000"/>
              <a:gd name="connsiteX9" fmla="*/ 241317 w 319950"/>
              <a:gd name="connsiteY9" fmla="*/ 115 h 360000"/>
              <a:gd name="connsiteX10" fmla="*/ 261409 w 319950"/>
              <a:gd name="connsiteY10" fmla="*/ 198705 h 360000"/>
              <a:gd name="connsiteX11" fmla="*/ 258922 w 319950"/>
              <a:gd name="connsiteY11" fmla="*/ 202086 h 360000"/>
              <a:gd name="connsiteX12" fmla="*/ 257236 w 319950"/>
              <a:gd name="connsiteY12" fmla="*/ 202438 h 360000"/>
              <a:gd name="connsiteX13" fmla="*/ 254713 w 319950"/>
              <a:gd name="connsiteY13" fmla="*/ 201606 h 360000"/>
              <a:gd name="connsiteX14" fmla="*/ 229199 w 319950"/>
              <a:gd name="connsiteY14" fmla="*/ 182697 h 360000"/>
              <a:gd name="connsiteX15" fmla="*/ 176094 w 319950"/>
              <a:gd name="connsiteY15" fmla="*/ 251457 h 360000"/>
              <a:gd name="connsiteX16" fmla="*/ 158644 w 319950"/>
              <a:gd name="connsiteY16" fmla="*/ 253947 h 360000"/>
              <a:gd name="connsiteX17" fmla="*/ 117113 w 319950"/>
              <a:gd name="connsiteY17" fmla="*/ 223945 h 360000"/>
              <a:gd name="connsiteX18" fmla="*/ 73432 w 319950"/>
              <a:gd name="connsiteY18" fmla="*/ 275714 h 360000"/>
              <a:gd name="connsiteX19" fmla="*/ 63751 w 319950"/>
              <a:gd name="connsiteY19" fmla="*/ 280185 h 360000"/>
              <a:gd name="connsiteX20" fmla="*/ 55716 w 319950"/>
              <a:gd name="connsiteY20" fmla="*/ 277319 h 360000"/>
              <a:gd name="connsiteX21" fmla="*/ 54086 w 319950"/>
              <a:gd name="connsiteY21" fmla="*/ 259863 h 360000"/>
              <a:gd name="connsiteX22" fmla="*/ 105331 w 319950"/>
              <a:gd name="connsiteY22" fmla="*/ 199129 h 360000"/>
              <a:gd name="connsiteX23" fmla="*/ 122441 w 319950"/>
              <a:gd name="connsiteY23" fmla="*/ 197059 h 360000"/>
              <a:gd name="connsiteX24" fmla="*/ 163555 w 319950"/>
              <a:gd name="connsiteY24" fmla="*/ 226755 h 360000"/>
              <a:gd name="connsiteX25" fmla="*/ 209091 w 319950"/>
              <a:gd name="connsiteY25" fmla="*/ 167793 h 360000"/>
              <a:gd name="connsiteX26" fmla="*/ 191649 w 319950"/>
              <a:gd name="connsiteY26" fmla="*/ 154866 h 360000"/>
              <a:gd name="connsiteX27" fmla="*/ 190015 w 319950"/>
              <a:gd name="connsiteY27" fmla="*/ 151016 h 360000"/>
              <a:gd name="connsiteX28" fmla="*/ 192623 w 319950"/>
              <a:gd name="connsiteY28" fmla="*/ 147724 h 360000"/>
              <a:gd name="connsiteX29" fmla="*/ 263015 w 319950"/>
              <a:gd name="connsiteY29" fmla="*/ 120188 h 360000"/>
              <a:gd name="connsiteX30" fmla="*/ 267085 w 319950"/>
              <a:gd name="connsiteY30" fmla="*/ 120728 h 360000"/>
              <a:gd name="connsiteX31" fmla="*/ 268735 w 319950"/>
              <a:gd name="connsiteY31" fmla="*/ 124428 h 360000"/>
              <a:gd name="connsiteX32" fmla="*/ 261409 w 319950"/>
              <a:gd name="connsiteY32" fmla="*/ 198705 h 360000"/>
              <a:gd name="connsiteX33" fmla="*/ 236536 w 319950"/>
              <a:gd name="connsiteY33" fmla="*/ 93447 h 360000"/>
              <a:gd name="connsiteX34" fmla="*/ 227464 w 319950"/>
              <a:gd name="connsiteY34" fmla="*/ 84514 h 360000"/>
              <a:gd name="connsiteX35" fmla="*/ 227464 w 319950"/>
              <a:gd name="connsiteY35" fmla="*/ 14212 h 360000"/>
              <a:gd name="connsiteX36" fmla="*/ 307889 w 319950"/>
              <a:gd name="connsiteY36" fmla="*/ 93447 h 360000"/>
              <a:gd name="connsiteX37" fmla="*/ 236536 w 319950"/>
              <a:gd name="connsiteY37" fmla="*/ 93447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19950" h="360000">
                <a:moveTo>
                  <a:pt x="241317" y="115"/>
                </a:moveTo>
                <a:lnTo>
                  <a:pt x="26784" y="149"/>
                </a:lnTo>
                <a:cubicBezTo>
                  <a:pt x="12057" y="151"/>
                  <a:pt x="120" y="12090"/>
                  <a:pt x="120" y="26817"/>
                </a:cubicBezTo>
                <a:lnTo>
                  <a:pt x="116" y="333435"/>
                </a:lnTo>
                <a:cubicBezTo>
                  <a:pt x="116" y="348164"/>
                  <a:pt x="12056" y="360103"/>
                  <a:pt x="26784" y="360103"/>
                </a:cubicBezTo>
                <a:lnTo>
                  <a:pt x="293398" y="360115"/>
                </a:lnTo>
                <a:cubicBezTo>
                  <a:pt x="308127" y="360115"/>
                  <a:pt x="320066" y="348174"/>
                  <a:pt x="320066" y="333447"/>
                </a:cubicBezTo>
                <a:cubicBezTo>
                  <a:pt x="320066" y="333443"/>
                  <a:pt x="320066" y="333439"/>
                  <a:pt x="320066" y="333435"/>
                </a:cubicBezTo>
                <a:lnTo>
                  <a:pt x="319946" y="77587"/>
                </a:lnTo>
                <a:lnTo>
                  <a:pt x="241317" y="115"/>
                </a:lnTo>
                <a:moveTo>
                  <a:pt x="261409" y="198705"/>
                </a:moveTo>
                <a:cubicBezTo>
                  <a:pt x="261262" y="200193"/>
                  <a:pt x="260312" y="201486"/>
                  <a:pt x="258922" y="202086"/>
                </a:cubicBezTo>
                <a:cubicBezTo>
                  <a:pt x="258392" y="202318"/>
                  <a:pt x="257817" y="202437"/>
                  <a:pt x="257236" y="202438"/>
                </a:cubicBezTo>
                <a:cubicBezTo>
                  <a:pt x="256342" y="202438"/>
                  <a:pt x="255454" y="202156"/>
                  <a:pt x="254713" y="201606"/>
                </a:cubicBezTo>
                <a:lnTo>
                  <a:pt x="229199" y="182697"/>
                </a:lnTo>
                <a:lnTo>
                  <a:pt x="176094" y="251457"/>
                </a:lnTo>
                <a:cubicBezTo>
                  <a:pt x="171934" y="256848"/>
                  <a:pt x="164176" y="257958"/>
                  <a:pt x="158644" y="253947"/>
                </a:cubicBezTo>
                <a:lnTo>
                  <a:pt x="117113" y="223945"/>
                </a:lnTo>
                <a:lnTo>
                  <a:pt x="73432" y="275714"/>
                </a:lnTo>
                <a:cubicBezTo>
                  <a:pt x="70946" y="278663"/>
                  <a:pt x="67363" y="280185"/>
                  <a:pt x="63751" y="280185"/>
                </a:cubicBezTo>
                <a:cubicBezTo>
                  <a:pt x="60815" y="280187"/>
                  <a:pt x="57971" y="279173"/>
                  <a:pt x="55716" y="277319"/>
                </a:cubicBezTo>
                <a:cubicBezTo>
                  <a:pt x="50372" y="272945"/>
                  <a:pt x="49642" y="265129"/>
                  <a:pt x="54086" y="259863"/>
                </a:cubicBezTo>
                <a:lnTo>
                  <a:pt x="105331" y="199129"/>
                </a:lnTo>
                <a:cubicBezTo>
                  <a:pt x="109574" y="194084"/>
                  <a:pt x="117076" y="193168"/>
                  <a:pt x="122441" y="197059"/>
                </a:cubicBezTo>
                <a:lnTo>
                  <a:pt x="163555" y="226755"/>
                </a:lnTo>
                <a:lnTo>
                  <a:pt x="209091" y="167793"/>
                </a:lnTo>
                <a:lnTo>
                  <a:pt x="191649" y="154866"/>
                </a:lnTo>
                <a:cubicBezTo>
                  <a:pt x="190438" y="153969"/>
                  <a:pt x="189814" y="152496"/>
                  <a:pt x="190015" y="151016"/>
                </a:cubicBezTo>
                <a:cubicBezTo>
                  <a:pt x="190217" y="149535"/>
                  <a:pt x="191214" y="148276"/>
                  <a:pt x="192623" y="147724"/>
                </a:cubicBezTo>
                <a:lnTo>
                  <a:pt x="263015" y="120188"/>
                </a:lnTo>
                <a:cubicBezTo>
                  <a:pt x="264375" y="119658"/>
                  <a:pt x="265916" y="119863"/>
                  <a:pt x="267085" y="120728"/>
                </a:cubicBezTo>
                <a:cubicBezTo>
                  <a:pt x="268252" y="121593"/>
                  <a:pt x="268879" y="122996"/>
                  <a:pt x="268735" y="124428"/>
                </a:cubicBezTo>
                <a:lnTo>
                  <a:pt x="261409" y="198705"/>
                </a:lnTo>
                <a:moveTo>
                  <a:pt x="236536" y="93447"/>
                </a:moveTo>
                <a:cubicBezTo>
                  <a:pt x="231525" y="93447"/>
                  <a:pt x="227464" y="89447"/>
                  <a:pt x="227464" y="84514"/>
                </a:cubicBezTo>
                <a:lnTo>
                  <a:pt x="227464" y="14212"/>
                </a:lnTo>
                <a:lnTo>
                  <a:pt x="307889" y="93447"/>
                </a:lnTo>
                <a:lnTo>
                  <a:pt x="236536" y="93447"/>
                </a:lnTo>
              </a:path>
            </a:pathLst>
          </a:custGeom>
          <a:solidFill>
            <a:srgbClr val="FFFFFF"/>
          </a:solidFill>
          <a:ln w="130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1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6150196" y="2428548"/>
            <a:ext cx="280772" cy="327901"/>
          </a:xfrm>
          <a:custGeom>
            <a:avLst/>
            <a:gdLst>
              <a:gd name="connsiteX0" fmla="*/ 170791 w 308257"/>
              <a:gd name="connsiteY0" fmla="*/ 114 h 359999"/>
              <a:gd name="connsiteX1" fmla="*/ 34953 w 308257"/>
              <a:gd name="connsiteY1" fmla="*/ 115856 h 359999"/>
              <a:gd name="connsiteX2" fmla="*/ 2021 w 308257"/>
              <a:gd name="connsiteY2" fmla="*/ 173955 h 359999"/>
              <a:gd name="connsiteX3" fmla="*/ 14618 w 308257"/>
              <a:gd name="connsiteY3" fmla="*/ 195576 h 359999"/>
              <a:gd name="connsiteX4" fmla="*/ 36838 w 308257"/>
              <a:gd name="connsiteY4" fmla="*/ 195576 h 359999"/>
              <a:gd name="connsiteX5" fmla="*/ 36838 w 308257"/>
              <a:gd name="connsiteY5" fmla="*/ 267787 h 359999"/>
              <a:gd name="connsiteX6" fmla="*/ 75740 w 308257"/>
              <a:gd name="connsiteY6" fmla="*/ 298449 h 359999"/>
              <a:gd name="connsiteX7" fmla="*/ 100657 w 308257"/>
              <a:gd name="connsiteY7" fmla="*/ 295007 h 359999"/>
              <a:gd name="connsiteX8" fmla="*/ 100657 w 308257"/>
              <a:gd name="connsiteY8" fmla="*/ 336854 h 359999"/>
              <a:gd name="connsiteX9" fmla="*/ 123920 w 308257"/>
              <a:gd name="connsiteY9" fmla="*/ 360113 h 359999"/>
              <a:gd name="connsiteX10" fmla="*/ 199527 w 308257"/>
              <a:gd name="connsiteY10" fmla="*/ 360113 h 359999"/>
              <a:gd name="connsiteX11" fmla="*/ 222793 w 308257"/>
              <a:gd name="connsiteY11" fmla="*/ 336854 h 359999"/>
              <a:gd name="connsiteX12" fmla="*/ 222793 w 308257"/>
              <a:gd name="connsiteY12" fmla="*/ 265007 h 359999"/>
              <a:gd name="connsiteX13" fmla="*/ 308374 w 308257"/>
              <a:gd name="connsiteY13" fmla="*/ 137660 h 359999"/>
              <a:gd name="connsiteX14" fmla="*/ 170791 w 308257"/>
              <a:gd name="connsiteY14" fmla="*/ 114 h 359999"/>
              <a:gd name="connsiteX15" fmla="*/ 220750 w 308257"/>
              <a:gd name="connsiteY15" fmla="*/ 124048 h 359999"/>
              <a:gd name="connsiteX16" fmla="*/ 145747 w 308257"/>
              <a:gd name="connsiteY16" fmla="*/ 202885 h 359999"/>
              <a:gd name="connsiteX17" fmla="*/ 135778 w 308257"/>
              <a:gd name="connsiteY17" fmla="*/ 198033 h 359999"/>
              <a:gd name="connsiteX18" fmla="*/ 143677 w 308257"/>
              <a:gd name="connsiteY18" fmla="*/ 144055 h 359999"/>
              <a:gd name="connsiteX19" fmla="*/ 109385 w 308257"/>
              <a:gd name="connsiteY19" fmla="*/ 144055 h 359999"/>
              <a:gd name="connsiteX20" fmla="*/ 105169 w 308257"/>
              <a:gd name="connsiteY20" fmla="*/ 134235 h 359999"/>
              <a:gd name="connsiteX21" fmla="*/ 180178 w 308257"/>
              <a:gd name="connsiteY21" fmla="*/ 55399 h 359999"/>
              <a:gd name="connsiteX22" fmla="*/ 190147 w 308257"/>
              <a:gd name="connsiteY22" fmla="*/ 60250 h 359999"/>
              <a:gd name="connsiteX23" fmla="*/ 182248 w 308257"/>
              <a:gd name="connsiteY23" fmla="*/ 114229 h 359999"/>
              <a:gd name="connsiteX24" fmla="*/ 216539 w 308257"/>
              <a:gd name="connsiteY24" fmla="*/ 114229 h 359999"/>
              <a:gd name="connsiteX25" fmla="*/ 220750 w 308257"/>
              <a:gd name="connsiteY25" fmla="*/ 124048 h 3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08257" h="359999">
                <a:moveTo>
                  <a:pt x="170791" y="114"/>
                </a:moveTo>
                <a:cubicBezTo>
                  <a:pt x="102232" y="114"/>
                  <a:pt x="45404" y="50253"/>
                  <a:pt x="34953" y="115856"/>
                </a:cubicBezTo>
                <a:lnTo>
                  <a:pt x="2021" y="173955"/>
                </a:lnTo>
                <a:cubicBezTo>
                  <a:pt x="-3452" y="183608"/>
                  <a:pt x="3521" y="195576"/>
                  <a:pt x="14618" y="195576"/>
                </a:cubicBezTo>
                <a:lnTo>
                  <a:pt x="36838" y="195576"/>
                </a:lnTo>
                <a:lnTo>
                  <a:pt x="36838" y="267787"/>
                </a:lnTo>
                <a:cubicBezTo>
                  <a:pt x="36838" y="288181"/>
                  <a:pt x="55907" y="303210"/>
                  <a:pt x="75740" y="298449"/>
                </a:cubicBezTo>
                <a:lnTo>
                  <a:pt x="100657" y="295007"/>
                </a:lnTo>
                <a:lnTo>
                  <a:pt x="100657" y="336854"/>
                </a:lnTo>
                <a:cubicBezTo>
                  <a:pt x="100657" y="349701"/>
                  <a:pt x="111073" y="360113"/>
                  <a:pt x="123920" y="360113"/>
                </a:cubicBezTo>
                <a:lnTo>
                  <a:pt x="199527" y="360113"/>
                </a:lnTo>
                <a:cubicBezTo>
                  <a:pt x="212376" y="360113"/>
                  <a:pt x="222793" y="349701"/>
                  <a:pt x="222793" y="336854"/>
                </a:cubicBezTo>
                <a:lnTo>
                  <a:pt x="222793" y="265007"/>
                </a:lnTo>
                <a:cubicBezTo>
                  <a:pt x="272991" y="244501"/>
                  <a:pt x="308374" y="195219"/>
                  <a:pt x="308374" y="137660"/>
                </a:cubicBezTo>
                <a:cubicBezTo>
                  <a:pt x="308370" y="61691"/>
                  <a:pt x="246772" y="114"/>
                  <a:pt x="170791" y="114"/>
                </a:cubicBezTo>
                <a:moveTo>
                  <a:pt x="220750" y="124048"/>
                </a:moveTo>
                <a:lnTo>
                  <a:pt x="145747" y="202885"/>
                </a:lnTo>
                <a:cubicBezTo>
                  <a:pt x="141838" y="206995"/>
                  <a:pt x="134959" y="203646"/>
                  <a:pt x="135778" y="198033"/>
                </a:cubicBezTo>
                <a:lnTo>
                  <a:pt x="143677" y="144055"/>
                </a:lnTo>
                <a:lnTo>
                  <a:pt x="109385" y="144055"/>
                </a:lnTo>
                <a:cubicBezTo>
                  <a:pt x="104274" y="144055"/>
                  <a:pt x="101650" y="137939"/>
                  <a:pt x="105169" y="134235"/>
                </a:cubicBezTo>
                <a:lnTo>
                  <a:pt x="180178" y="55399"/>
                </a:lnTo>
                <a:cubicBezTo>
                  <a:pt x="184087" y="51289"/>
                  <a:pt x="190966" y="54638"/>
                  <a:pt x="190147" y="60250"/>
                </a:cubicBezTo>
                <a:lnTo>
                  <a:pt x="182248" y="114229"/>
                </a:lnTo>
                <a:lnTo>
                  <a:pt x="216539" y="114229"/>
                </a:lnTo>
                <a:cubicBezTo>
                  <a:pt x="221646" y="114229"/>
                  <a:pt x="224275" y="120344"/>
                  <a:pt x="220750" y="124048"/>
                </a:cubicBezTo>
              </a:path>
            </a:pathLst>
          </a:custGeom>
          <a:solidFill>
            <a:srgbClr val="FFFFFF"/>
          </a:solidFill>
          <a:ln w="126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矩形 39"/>
          <p:cNvSpPr/>
          <p:nvPr>
            <p:custDataLst>
              <p:tags r:id="rId15"/>
            </p:custDataLst>
          </p:nvPr>
        </p:nvSpPr>
        <p:spPr>
          <a:xfrm>
            <a:off x="701674" y="3346160"/>
            <a:ext cx="2862288" cy="1087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IN" sz="1600" dirty="0">
                <a:solidFill>
                  <a:schemeClr val="tx1"/>
                </a:solidFill>
              </a:rPr>
              <a:t>Recommend suitable digital tools</a:t>
            </a:r>
            <a:endParaRPr lang="en-US" sz="1600" kern="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4" name="矩形 44"/>
          <p:cNvSpPr/>
          <p:nvPr>
            <p:custDataLst>
              <p:tags r:id="rId16"/>
            </p:custDataLst>
          </p:nvPr>
        </p:nvSpPr>
        <p:spPr>
          <a:xfrm>
            <a:off x="8640132" y="3346160"/>
            <a:ext cx="2862117" cy="1087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600" dirty="0">
                <a:solidFill>
                  <a:schemeClr val="tx1"/>
                </a:solidFill>
              </a:rPr>
              <a:t>Consider the owner's available budget</a:t>
            </a:r>
            <a:endParaRPr lang="en-US" sz="1600" kern="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6" name="矩形 34"/>
          <p:cNvSpPr/>
          <p:nvPr>
            <p:custDataLst>
              <p:tags r:id="rId17"/>
            </p:custDataLst>
          </p:nvPr>
        </p:nvSpPr>
        <p:spPr>
          <a:xfrm>
            <a:off x="1606586" y="1849404"/>
            <a:ext cx="2862288" cy="1087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IN" sz="1600" dirty="0">
                <a:solidFill>
                  <a:schemeClr val="tx1"/>
                </a:solidFill>
              </a:rPr>
              <a:t>Measure the digital readiness of a small business</a:t>
            </a:r>
            <a:endParaRPr lang="en-US" sz="1600" kern="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7" name="矩形 36"/>
          <p:cNvSpPr/>
          <p:nvPr>
            <p:custDataLst>
              <p:tags r:id="rId18"/>
            </p:custDataLst>
          </p:nvPr>
        </p:nvSpPr>
        <p:spPr>
          <a:xfrm>
            <a:off x="1672629" y="4842916"/>
            <a:ext cx="2862288" cy="1087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IN" sz="1600" dirty="0">
                <a:solidFill>
                  <a:schemeClr val="tx1"/>
                </a:solidFill>
              </a:rPr>
              <a:t>Generate a simple step-by-step roadmap</a:t>
            </a:r>
            <a:endParaRPr lang="en-US" sz="1600" kern="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8" name="矩形 42"/>
          <p:cNvSpPr/>
          <p:nvPr>
            <p:custDataLst>
              <p:tags r:id="rId19"/>
            </p:custDataLst>
          </p:nvPr>
        </p:nvSpPr>
        <p:spPr>
          <a:xfrm>
            <a:off x="7650127" y="1849404"/>
            <a:ext cx="2862117" cy="1087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600" dirty="0">
                <a:solidFill>
                  <a:schemeClr val="tx1"/>
                </a:solidFill>
              </a:rPr>
              <a:t>Identify the major digital gaps</a:t>
            </a:r>
            <a:endParaRPr lang="en-US" sz="1600" kern="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0" name="矩形 48"/>
          <p:cNvSpPr/>
          <p:nvPr>
            <p:custDataLst>
              <p:tags r:id="rId20"/>
            </p:custDataLst>
          </p:nvPr>
        </p:nvSpPr>
        <p:spPr>
          <a:xfrm>
            <a:off x="7710455" y="4842916"/>
            <a:ext cx="2862117" cy="1087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600" dirty="0">
                <a:solidFill>
                  <a:schemeClr val="tx1"/>
                </a:solidFill>
              </a:rPr>
              <a:t>Provide guidance in simple Hindi/Hinglish</a:t>
            </a:r>
            <a:endParaRPr lang="en-US" sz="1600" kern="0" dirty="0">
              <a:solidFill>
                <a:schemeClr val="tx1"/>
              </a:solidFill>
              <a:latin typeface="+mn-lt"/>
              <a:sym typeface="+mn-ea"/>
            </a:endParaRPr>
          </a:p>
        </p:txBody>
      </p:sp>
      <p:cxnSp>
        <p:nvCxnSpPr>
          <p:cNvPr id="51" name="直接连接符 18"/>
          <p:cNvCxnSpPr/>
          <p:nvPr>
            <p:custDataLst>
              <p:tags r:id="rId21"/>
            </p:custDataLst>
          </p:nvPr>
        </p:nvCxnSpPr>
        <p:spPr>
          <a:xfrm>
            <a:off x="4528975" y="2241850"/>
            <a:ext cx="534562" cy="0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21"/>
          <p:cNvCxnSpPr/>
          <p:nvPr>
            <p:custDataLst>
              <p:tags r:id="rId22"/>
            </p:custDataLst>
          </p:nvPr>
        </p:nvCxnSpPr>
        <p:spPr>
          <a:xfrm>
            <a:off x="3624063" y="3738606"/>
            <a:ext cx="349169" cy="1"/>
          </a:xfrm>
          <a:prstGeom prst="line">
            <a:avLst/>
          </a:prstGeom>
          <a:ln>
            <a:solidFill>
              <a:schemeClr val="accent3">
                <a:lumMod val="50000"/>
                <a:lumOff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23"/>
          <p:cNvCxnSpPr/>
          <p:nvPr>
            <p:custDataLst>
              <p:tags r:id="rId23"/>
            </p:custDataLst>
          </p:nvPr>
        </p:nvCxnSpPr>
        <p:spPr>
          <a:xfrm flipV="1">
            <a:off x="4595018" y="5234727"/>
            <a:ext cx="585171" cy="145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25"/>
          <p:cNvCxnSpPr/>
          <p:nvPr>
            <p:custDataLst>
              <p:tags r:id="rId24"/>
            </p:custDataLst>
          </p:nvPr>
        </p:nvCxnSpPr>
        <p:spPr>
          <a:xfrm flipH="1">
            <a:off x="6986525" y="2241850"/>
            <a:ext cx="603301" cy="0"/>
          </a:xfrm>
          <a:prstGeom prst="line">
            <a:avLst/>
          </a:prstGeom>
          <a:ln>
            <a:solidFill>
              <a:schemeClr val="accent2">
                <a:lumMod val="90000"/>
                <a:lumOff val="1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32"/>
          <p:cNvCxnSpPr/>
          <p:nvPr>
            <p:custDataLst>
              <p:tags r:id="rId25"/>
            </p:custDataLst>
          </p:nvPr>
        </p:nvCxnSpPr>
        <p:spPr>
          <a:xfrm flipH="1">
            <a:off x="8200695" y="3738606"/>
            <a:ext cx="379018" cy="0"/>
          </a:xfrm>
          <a:prstGeom prst="line">
            <a:avLst/>
          </a:prstGeom>
          <a:ln>
            <a:solidFill>
              <a:schemeClr val="accent4">
                <a:lumMod val="80000"/>
                <a:lumOff val="2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41"/>
          <p:cNvCxnSpPr/>
          <p:nvPr>
            <p:custDataLst>
              <p:tags r:id="rId26"/>
            </p:custDataLst>
          </p:nvPr>
        </p:nvCxnSpPr>
        <p:spPr>
          <a:xfrm flipH="1" flipV="1">
            <a:off x="7126866" y="5234727"/>
            <a:ext cx="523391" cy="1454"/>
          </a:xfrm>
          <a:prstGeom prst="line">
            <a:avLst/>
          </a:prstGeom>
          <a:ln>
            <a:solidFill>
              <a:schemeClr val="accent6">
                <a:lumMod val="70000"/>
                <a:lumOff val="3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2"/>
          <p:cNvSpPr/>
          <p:nvPr>
            <p:custDataLst>
              <p:tags r:id="rId27"/>
            </p:custDataLst>
          </p:nvPr>
        </p:nvSpPr>
        <p:spPr>
          <a:xfrm>
            <a:off x="3199231" y="1503315"/>
            <a:ext cx="1270052" cy="346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r"/>
            <a:r>
              <a:rPr lang="en-US" sz="2000" b="1" kern="0" dirty="0">
                <a:solidFill>
                  <a:schemeClr val="accent1"/>
                </a:solidFill>
                <a:sym typeface="Arial" panose="020B0604020202020204" pitchFamily="34" charset="0"/>
              </a:rPr>
              <a:t>01</a:t>
            </a:r>
          </a:p>
        </p:txBody>
      </p:sp>
      <p:sp>
        <p:nvSpPr>
          <p:cNvPr id="58" name="矩形 3"/>
          <p:cNvSpPr/>
          <p:nvPr>
            <p:custDataLst>
              <p:tags r:id="rId28"/>
            </p:custDataLst>
          </p:nvPr>
        </p:nvSpPr>
        <p:spPr>
          <a:xfrm>
            <a:off x="2293684" y="2999436"/>
            <a:ext cx="1270052" cy="346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r"/>
            <a:r>
              <a:rPr lang="en-US" sz="2000" b="1" kern="0" dirty="0">
                <a:solidFill>
                  <a:schemeClr val="accent6"/>
                </a:solidFill>
                <a:sym typeface="Arial" panose="020B0604020202020204" pitchFamily="34" charset="0"/>
              </a:rPr>
              <a:t>03</a:t>
            </a:r>
          </a:p>
        </p:txBody>
      </p:sp>
      <p:sp>
        <p:nvSpPr>
          <p:cNvPr id="59" name="矩形 4"/>
          <p:cNvSpPr/>
          <p:nvPr>
            <p:custDataLst>
              <p:tags r:id="rId29"/>
            </p:custDataLst>
          </p:nvPr>
        </p:nvSpPr>
        <p:spPr>
          <a:xfrm>
            <a:off x="3258923" y="4495557"/>
            <a:ext cx="1270052" cy="346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r"/>
            <a:r>
              <a:rPr lang="en-US" sz="2000" b="1" kern="0" dirty="0">
                <a:solidFill>
                  <a:schemeClr val="accent5"/>
                </a:solidFill>
                <a:sym typeface="Arial" panose="020B0604020202020204" pitchFamily="34" charset="0"/>
              </a:rPr>
              <a:t>05</a:t>
            </a:r>
          </a:p>
        </p:txBody>
      </p:sp>
      <p:sp>
        <p:nvSpPr>
          <p:cNvPr id="60" name="矩形 8"/>
          <p:cNvSpPr/>
          <p:nvPr>
            <p:custDataLst>
              <p:tags r:id="rId30"/>
            </p:custDataLst>
          </p:nvPr>
        </p:nvSpPr>
        <p:spPr>
          <a:xfrm>
            <a:off x="7650762" y="1503315"/>
            <a:ext cx="1270052" cy="346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2000" b="1" kern="0" dirty="0">
                <a:solidFill>
                  <a:schemeClr val="accent2"/>
                </a:solidFill>
                <a:sym typeface="Arial" panose="020B0604020202020204" pitchFamily="34" charset="0"/>
              </a:rPr>
              <a:t>02</a:t>
            </a:r>
          </a:p>
        </p:txBody>
      </p:sp>
      <p:sp>
        <p:nvSpPr>
          <p:cNvPr id="61" name="矩形 9"/>
          <p:cNvSpPr/>
          <p:nvPr>
            <p:custDataLst>
              <p:tags r:id="rId31"/>
            </p:custDataLst>
          </p:nvPr>
        </p:nvSpPr>
        <p:spPr>
          <a:xfrm>
            <a:off x="8640132" y="2999436"/>
            <a:ext cx="1270052" cy="346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2000" b="1" kern="0" dirty="0">
                <a:solidFill>
                  <a:schemeClr val="accent4"/>
                </a:solidFill>
                <a:sym typeface="Arial" panose="020B0604020202020204" pitchFamily="34" charset="0"/>
              </a:rPr>
              <a:t>04</a:t>
            </a:r>
          </a:p>
        </p:txBody>
      </p:sp>
      <p:sp>
        <p:nvSpPr>
          <p:cNvPr id="62" name="矩形 10"/>
          <p:cNvSpPr/>
          <p:nvPr>
            <p:custDataLst>
              <p:tags r:id="rId32"/>
            </p:custDataLst>
          </p:nvPr>
        </p:nvSpPr>
        <p:spPr>
          <a:xfrm>
            <a:off x="7725060" y="4495557"/>
            <a:ext cx="1270052" cy="346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2000" b="1" kern="0" dirty="0">
                <a:solidFill>
                  <a:schemeClr val="accent3"/>
                </a:solidFill>
                <a:sym typeface="Arial" panose="020B0604020202020204" pitchFamily="34" charset="0"/>
              </a:rPr>
              <a:t>06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39FC9C-1A6A-D5E8-9E24-B11EB4AFC542}"/>
              </a:ext>
            </a:extLst>
          </p:cNvPr>
          <p:cNvSpPr txBox="1"/>
          <p:nvPr/>
        </p:nvSpPr>
        <p:spPr>
          <a:xfrm>
            <a:off x="609600" y="5770167"/>
            <a:ext cx="11058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project's formal objectives include a </a:t>
            </a:r>
            <a:r>
              <a:rPr lang="en-IN" b="1" dirty="0"/>
              <a:t>Digital Readiness Index (0–100)</a:t>
            </a:r>
            <a:r>
              <a:rPr lang="en-IN" dirty="0"/>
              <a:t> and budget-constrained recommendations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7" name="任意多边形 19"/>
          <p:cNvSpPr/>
          <p:nvPr>
            <p:custDataLst>
              <p:tags r:id="rId3"/>
            </p:custDataLst>
          </p:nvPr>
        </p:nvSpPr>
        <p:spPr>
          <a:xfrm>
            <a:off x="945068" y="3017673"/>
            <a:ext cx="5036645" cy="1386127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189" y="0"/>
                </a:moveTo>
                <a:lnTo>
                  <a:pt x="2366" y="0"/>
                </a:lnTo>
                <a:cubicBezTo>
                  <a:pt x="2370" y="0"/>
                  <a:pt x="2374" y="0"/>
                  <a:pt x="2378" y="0"/>
                </a:cubicBezTo>
                <a:lnTo>
                  <a:pt x="2388" y="1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5310" y="2179"/>
                </a:lnTo>
                <a:lnTo>
                  <a:pt x="2189" y="2179"/>
                </a:lnTo>
                <a:lnTo>
                  <a:pt x="243" y="2179"/>
                </a:lnTo>
                <a:cubicBezTo>
                  <a:pt x="109" y="2179"/>
                  <a:pt x="0" y="2072"/>
                  <a:pt x="0" y="1939"/>
                </a:cubicBezTo>
                <a:lnTo>
                  <a:pt x="0" y="1689"/>
                </a:lnTo>
                <a:lnTo>
                  <a:pt x="27" y="1693"/>
                </a:lnTo>
                <a:cubicBezTo>
                  <a:pt x="58" y="1698"/>
                  <a:pt x="90" y="1701"/>
                  <a:pt x="123" y="1701"/>
                </a:cubicBezTo>
                <a:cubicBezTo>
                  <a:pt x="468" y="1701"/>
                  <a:pt x="747" y="1425"/>
                  <a:pt x="747" y="1084"/>
                </a:cubicBezTo>
                <a:cubicBezTo>
                  <a:pt x="747" y="744"/>
                  <a:pt x="468" y="468"/>
                  <a:pt x="123" y="468"/>
                </a:cubicBezTo>
                <a:cubicBezTo>
                  <a:pt x="90" y="468"/>
                  <a:pt x="58" y="471"/>
                  <a:pt x="27" y="476"/>
                </a:cubicBezTo>
                <a:lnTo>
                  <a:pt x="0" y="479"/>
                </a:lnTo>
                <a:lnTo>
                  <a:pt x="0" y="241"/>
                </a:lnTo>
                <a:cubicBezTo>
                  <a:pt x="0" y="108"/>
                  <a:pt x="109" y="1"/>
                  <a:pt x="243" y="1"/>
                </a:cubicBezTo>
                <a:lnTo>
                  <a:pt x="2189" y="1"/>
                </a:lnTo>
                <a:lnTo>
                  <a:pt x="2189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lstStyle/>
          <a:p>
            <a:r>
              <a:rPr lang="en-IN" sz="1600" b="1" dirty="0">
                <a:solidFill>
                  <a:schemeClr val="tx1"/>
                </a:solidFill>
              </a:rPr>
              <a:t>Knapsack Optimization</a:t>
            </a:r>
            <a:endParaRPr lang="en-IN" sz="1600" dirty="0">
              <a:solidFill>
                <a:schemeClr val="tx1"/>
              </a:solidFill>
            </a:endParaRPr>
          </a:p>
          <a:p>
            <a:r>
              <a:rPr lang="en-IN" sz="1600" dirty="0">
                <a:solidFill>
                  <a:schemeClr val="tx1"/>
                </a:solidFill>
              </a:rPr>
              <a:t>Knapsack algorithms can help select the best options under a limited budget.</a:t>
            </a:r>
          </a:p>
        </p:txBody>
      </p:sp>
      <p:sp>
        <p:nvSpPr>
          <p:cNvPr id="8" name="任意多边形 22"/>
          <p:cNvSpPr/>
          <p:nvPr>
            <p:custDataLst>
              <p:tags r:id="rId4"/>
            </p:custDataLst>
          </p:nvPr>
        </p:nvSpPr>
        <p:spPr>
          <a:xfrm>
            <a:off x="945068" y="4676853"/>
            <a:ext cx="5036645" cy="1387624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43" y="0"/>
                </a:moveTo>
                <a:lnTo>
                  <a:pt x="2189" y="0"/>
                </a:lnTo>
                <a:lnTo>
                  <a:pt x="2366" y="0"/>
                </a:lnTo>
                <a:lnTo>
                  <a:pt x="2378" y="0"/>
                </a:lnTo>
                <a:lnTo>
                  <a:pt x="5310" y="0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2189" y="2179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 lnSpcReduction="10000"/>
          </a:bodyPr>
          <a:lstStyle/>
          <a:p>
            <a:endParaRPr lang="en-IN" sz="1600" b="1" dirty="0">
              <a:solidFill>
                <a:schemeClr val="tx1"/>
              </a:solidFill>
            </a:endParaRPr>
          </a:p>
          <a:p>
            <a:r>
              <a:rPr lang="en-IN" sz="1600" b="1" dirty="0">
                <a:solidFill>
                  <a:schemeClr val="tx1"/>
                </a:solidFill>
              </a:rPr>
              <a:t>Research Gap</a:t>
            </a:r>
          </a:p>
          <a:p>
            <a:r>
              <a:rPr lang="en-IN" sz="1600" b="1" dirty="0">
                <a:solidFill>
                  <a:schemeClr val="tx1"/>
                </a:solidFill>
              </a:rPr>
              <a:t>Existing approaches do not combine digital readiness + budget + technical literacy + personalized recommendations for micro-businesses.</a:t>
            </a:r>
            <a:endParaRPr lang="en-IN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任意多边形 5"/>
          <p:cNvSpPr/>
          <p:nvPr>
            <p:custDataLst>
              <p:tags r:id="rId5"/>
            </p:custDataLst>
          </p:nvPr>
        </p:nvSpPr>
        <p:spPr>
          <a:xfrm>
            <a:off x="945068" y="1357631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lstStyle/>
          <a:p>
            <a:r>
              <a:rPr lang="en-IN" sz="1600" b="1" dirty="0">
                <a:solidFill>
                  <a:schemeClr val="tx1"/>
                </a:solidFill>
              </a:rPr>
              <a:t>Digital Maturity Models</a:t>
            </a:r>
            <a:endParaRPr lang="en-IN" sz="1600" dirty="0">
              <a:solidFill>
                <a:schemeClr val="tx1"/>
              </a:solidFill>
            </a:endParaRPr>
          </a:p>
          <a:p>
            <a:r>
              <a:rPr lang="en-IN" sz="1600" dirty="0">
                <a:solidFill>
                  <a:schemeClr val="tx1"/>
                </a:solidFill>
              </a:rPr>
              <a:t>Existing maturity models are mainly designed for larger organizations.</a:t>
            </a:r>
          </a:p>
        </p:txBody>
      </p:sp>
      <p:sp>
        <p:nvSpPr>
          <p:cNvPr id="10" name="椭圆 4"/>
          <p:cNvSpPr/>
          <p:nvPr>
            <p:custDataLst>
              <p:tags r:id="rId6"/>
            </p:custDataLst>
          </p:nvPr>
        </p:nvSpPr>
        <p:spPr>
          <a:xfrm>
            <a:off x="698031" y="1725330"/>
            <a:ext cx="648167" cy="6481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</a:p>
        </p:txBody>
      </p:sp>
      <p:sp>
        <p:nvSpPr>
          <p:cNvPr id="11" name="椭圆 21"/>
          <p:cNvSpPr/>
          <p:nvPr>
            <p:custDataLst>
              <p:tags r:id="rId7"/>
            </p:custDataLst>
          </p:nvPr>
        </p:nvSpPr>
        <p:spPr>
          <a:xfrm>
            <a:off x="698031" y="3385371"/>
            <a:ext cx="648167" cy="64816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4" name="任意多边形 27"/>
          <p:cNvSpPr/>
          <p:nvPr>
            <p:custDataLst>
              <p:tags r:id="rId8"/>
            </p:custDataLst>
          </p:nvPr>
        </p:nvSpPr>
        <p:spPr>
          <a:xfrm>
            <a:off x="6468168" y="1357631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lstStyle/>
          <a:p>
            <a:r>
              <a:rPr lang="en-IN" sz="1600" b="1" dirty="0">
                <a:solidFill>
                  <a:schemeClr val="tx1"/>
                </a:solidFill>
              </a:rPr>
              <a:t>ME Digital Transformation</a:t>
            </a:r>
            <a:endParaRPr lang="en-IN" sz="1600" dirty="0">
              <a:solidFill>
                <a:schemeClr val="tx1"/>
              </a:solidFill>
            </a:endParaRPr>
          </a:p>
          <a:p>
            <a:r>
              <a:rPr lang="en-IN" sz="1600" dirty="0">
                <a:solidFill>
                  <a:schemeClr val="tx1"/>
                </a:solidFill>
              </a:rPr>
              <a:t>Research suggests that small businesses benefit from gradual digital adoption.</a:t>
            </a:r>
          </a:p>
        </p:txBody>
      </p:sp>
      <p:sp>
        <p:nvSpPr>
          <p:cNvPr id="15" name="椭圆 24"/>
          <p:cNvSpPr/>
          <p:nvPr>
            <p:custDataLst>
              <p:tags r:id="rId9"/>
            </p:custDataLst>
          </p:nvPr>
        </p:nvSpPr>
        <p:spPr>
          <a:xfrm>
            <a:off x="698031" y="5045413"/>
            <a:ext cx="648167" cy="64816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b="1" dirty="0">
                <a:sym typeface="+mn-lt"/>
              </a:rPr>
              <a:t>*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6" name="椭圆 28"/>
          <p:cNvSpPr/>
          <p:nvPr>
            <p:custDataLst>
              <p:tags r:id="rId10"/>
            </p:custDataLst>
          </p:nvPr>
        </p:nvSpPr>
        <p:spPr>
          <a:xfrm>
            <a:off x="6221130" y="1725330"/>
            <a:ext cx="648167" cy="6481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7" name="任意多边形 2"/>
          <p:cNvSpPr/>
          <p:nvPr>
            <p:custDataLst>
              <p:tags r:id="rId11"/>
            </p:custDataLst>
          </p:nvPr>
        </p:nvSpPr>
        <p:spPr>
          <a:xfrm>
            <a:off x="6468803" y="3018308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lstStyle/>
          <a:p>
            <a:r>
              <a:rPr lang="en-IN" sz="1600" b="1" dirty="0">
                <a:solidFill>
                  <a:schemeClr val="tx1"/>
                </a:solidFill>
              </a:rPr>
              <a:t>ICT4D</a:t>
            </a:r>
            <a:endParaRPr lang="en-IN" sz="1600" dirty="0">
              <a:solidFill>
                <a:schemeClr val="tx1"/>
              </a:solidFill>
            </a:endParaRPr>
          </a:p>
          <a:p>
            <a:r>
              <a:rPr lang="en-IN" sz="1600" dirty="0">
                <a:solidFill>
                  <a:schemeClr val="tx1"/>
                </a:solidFill>
              </a:rPr>
              <a:t>Technology should be designed according to the actual skills and environment of users.</a:t>
            </a:r>
          </a:p>
        </p:txBody>
      </p:sp>
      <p:sp>
        <p:nvSpPr>
          <p:cNvPr id="18" name="椭圆 3"/>
          <p:cNvSpPr/>
          <p:nvPr>
            <p:custDataLst>
              <p:tags r:id="rId12"/>
            </p:custDataLst>
          </p:nvPr>
        </p:nvSpPr>
        <p:spPr>
          <a:xfrm>
            <a:off x="6221765" y="3386006"/>
            <a:ext cx="648167" cy="64816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pPr algn="ctr"/>
            <a:r>
              <a:rPr lang="en-US" spc="0" dirty="0">
                <a:latin typeface="+mj-lt"/>
              </a:rPr>
              <a:t>Requirements</a:t>
            </a:r>
          </a:p>
        </p:txBody>
      </p:sp>
      <p:sp>
        <p:nvSpPr>
          <p:cNvPr id="5" name="矩形 2"/>
          <p:cNvSpPr/>
          <p:nvPr>
            <p:custDataLst>
              <p:tags r:id="rId3"/>
            </p:custDataLst>
          </p:nvPr>
        </p:nvSpPr>
        <p:spPr>
          <a:xfrm>
            <a:off x="903605" y="1391500"/>
            <a:ext cx="4596765" cy="74209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 fontScale="82500" lnSpcReduction="2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7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01</a:t>
            </a:r>
          </a:p>
        </p:txBody>
      </p:sp>
      <p:cxnSp>
        <p:nvCxnSpPr>
          <p:cNvPr id="20" name="直接连接符 19"/>
          <p:cNvCxnSpPr/>
          <p:nvPr>
            <p:custDataLst>
              <p:tags r:id="rId4"/>
            </p:custDataLst>
          </p:nvPr>
        </p:nvCxnSpPr>
        <p:spPr>
          <a:xfrm>
            <a:off x="825320" y="2147892"/>
            <a:ext cx="4487441" cy="0"/>
          </a:xfrm>
          <a:prstGeom prst="line">
            <a:avLst/>
          </a:prstGeom>
          <a:ln w="1270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4"/>
          <p:cNvSpPr/>
          <p:nvPr>
            <p:custDataLst>
              <p:tags r:id="rId5"/>
            </p:custDataLst>
          </p:nvPr>
        </p:nvSpPr>
        <p:spPr>
          <a:xfrm>
            <a:off x="825320" y="2250693"/>
            <a:ext cx="4598198" cy="45677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>
                <a:solidFill>
                  <a:schemeClr val="tx1"/>
                </a:solidFill>
                <a:latin typeface="+mj-lt"/>
              </a:rPr>
              <a:t>Functional Requirements</a:t>
            </a:r>
          </a:p>
        </p:txBody>
      </p:sp>
      <p:sp>
        <p:nvSpPr>
          <p:cNvPr id="9" name="矩形 5"/>
          <p:cNvSpPr/>
          <p:nvPr>
            <p:custDataLst>
              <p:tags r:id="rId6"/>
            </p:custDataLst>
          </p:nvPr>
        </p:nvSpPr>
        <p:spPr>
          <a:xfrm>
            <a:off x="770022" y="2963227"/>
            <a:ext cx="4598035" cy="317563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Business registration/profile creation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Business information questionnaire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Digital readiness calculation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Identify digital gaps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Recommend digital interventions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Generate 3-phase roadmap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Provide Hindi/Hinglish explanations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Show suitable service providers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9" name="矩形 6"/>
          <p:cNvSpPr/>
          <p:nvPr>
            <p:custDataLst>
              <p:tags r:id="rId7"/>
            </p:custDataLst>
          </p:nvPr>
        </p:nvSpPr>
        <p:spPr>
          <a:xfrm>
            <a:off x="6691632" y="1385257"/>
            <a:ext cx="4596708" cy="74209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 fontScale="77500" lnSpcReduction="2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7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02</a:t>
            </a:r>
          </a:p>
        </p:txBody>
      </p:sp>
      <p:cxnSp>
        <p:nvCxnSpPr>
          <p:cNvPr id="21" name="直接连接符 10"/>
          <p:cNvCxnSpPr/>
          <p:nvPr>
            <p:custDataLst>
              <p:tags r:id="rId8"/>
            </p:custDataLst>
          </p:nvPr>
        </p:nvCxnSpPr>
        <p:spPr>
          <a:xfrm>
            <a:off x="6492442" y="2127351"/>
            <a:ext cx="4487441" cy="0"/>
          </a:xfrm>
          <a:prstGeom prst="line">
            <a:avLst/>
          </a:prstGeom>
          <a:ln w="12700">
            <a:solidFill>
              <a:schemeClr val="accent2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矩形 8"/>
          <p:cNvSpPr/>
          <p:nvPr>
            <p:custDataLst>
              <p:tags r:id="rId9"/>
            </p:custDataLst>
          </p:nvPr>
        </p:nvSpPr>
        <p:spPr>
          <a:xfrm>
            <a:off x="6690142" y="2252046"/>
            <a:ext cx="4598198" cy="45677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>
                <a:solidFill>
                  <a:schemeClr val="tx1"/>
                </a:solidFill>
                <a:latin typeface="+mj-lt"/>
              </a:rPr>
              <a:t>Non-Functional Requirements</a:t>
            </a:r>
          </a:p>
        </p:txBody>
      </p:sp>
      <p:sp>
        <p:nvSpPr>
          <p:cNvPr id="23" name="矩形 13"/>
          <p:cNvSpPr/>
          <p:nvPr>
            <p:custDataLst>
              <p:tags r:id="rId10"/>
            </p:custDataLst>
          </p:nvPr>
        </p:nvSpPr>
        <p:spPr>
          <a:xfrm>
            <a:off x="6568440" y="2963227"/>
            <a:ext cx="4598035" cy="251206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User Friendly</a:t>
            </a:r>
            <a:br>
              <a:rPr lang="en-IN" dirty="0"/>
            </a:br>
            <a:r>
              <a:rPr lang="en-IN" dirty="0"/>
              <a:t>Simple interface for non-technical users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Mobile Friendly</a:t>
            </a:r>
            <a:br>
              <a:rPr lang="en-IN" dirty="0"/>
            </a:br>
            <a:r>
              <a:rPr lang="en-IN" dirty="0"/>
              <a:t>Works properly on mobile devices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Fast Response</a:t>
            </a:r>
            <a:br>
              <a:rPr lang="en-IN" dirty="0"/>
            </a:br>
            <a:r>
              <a:rPr lang="en-IN" dirty="0"/>
              <a:t>Quick scoring and recommendation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Secure</a:t>
            </a:r>
            <a:br>
              <a:rPr lang="en-IN" dirty="0"/>
            </a:br>
            <a:r>
              <a:rPr lang="en-IN" dirty="0"/>
              <a:t>Protects business information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Lightweight</a:t>
            </a:r>
            <a:br>
              <a:rPr lang="en-IN" dirty="0"/>
            </a:br>
            <a:r>
              <a:rPr lang="en-IN" dirty="0"/>
              <a:t>Should work on low-bandwidth connections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Scalable</a:t>
            </a:r>
            <a:br>
              <a:rPr lang="en-IN" dirty="0"/>
            </a:br>
            <a:r>
              <a:rPr lang="en-IN" dirty="0"/>
              <a:t>Can support businesses from different districts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F1FC7-8715-56D0-1C2C-626E175BC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DD6213-5A80-BCF8-B84F-54BA02355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09600" y="1450201"/>
            <a:ext cx="5297081" cy="4744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D7F920-939D-9764-E617-BD9DEFC0A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096000" y="1450201"/>
            <a:ext cx="5840361" cy="4879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372707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System Architecture &amp; Flow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CD19E09-F31E-A01D-E69B-004E1D3757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4355689" y="1600201"/>
            <a:ext cx="3716595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F962293-BE26-C78D-86DE-982FC32647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8072284" y="1600201"/>
            <a:ext cx="3212178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BE5CB6-C63C-854E-95DF-D19EECB49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44" y="1600201"/>
            <a:ext cx="3854245" cy="452596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442CA-3CF1-B71A-76FA-C134AC3A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C3DD5-2E63-3BDF-234A-C6787FD16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1445" y="1166018"/>
            <a:ext cx="5384800" cy="5691982"/>
          </a:xfrm>
        </p:spPr>
        <p:txBody>
          <a:bodyPr/>
          <a:lstStyle/>
          <a:p>
            <a:pPr marL="0" indent="0">
              <a:buNone/>
            </a:pPr>
            <a:r>
              <a:rPr lang="en-IN" sz="1600" dirty="0"/>
              <a:t>Shopkeeper</a:t>
            </a:r>
          </a:p>
          <a:p>
            <a:pPr marL="0" indent="0">
              <a:buNone/>
            </a:pPr>
            <a:r>
              <a:rPr lang="en-IN" sz="1600" dirty="0"/>
              <a:t>    ↓</a:t>
            </a:r>
          </a:p>
          <a:p>
            <a:pPr marL="0" indent="0">
              <a:buNone/>
            </a:pPr>
            <a:r>
              <a:rPr lang="en-IN" sz="1600" dirty="0"/>
              <a:t>Business Details</a:t>
            </a:r>
          </a:p>
          <a:p>
            <a:pPr marL="0" indent="0">
              <a:buNone/>
            </a:pPr>
            <a:r>
              <a:rPr lang="en-IN" sz="1600" dirty="0"/>
              <a:t>    ↓</a:t>
            </a:r>
          </a:p>
          <a:p>
            <a:pPr marL="0" indent="0">
              <a:buNone/>
            </a:pPr>
            <a:r>
              <a:rPr lang="en-IN" sz="1600" dirty="0"/>
              <a:t>Questionnaire</a:t>
            </a:r>
          </a:p>
          <a:p>
            <a:pPr marL="0" indent="0">
              <a:buNone/>
            </a:pPr>
            <a:r>
              <a:rPr lang="en-IN" sz="1600" dirty="0"/>
              <a:t>    ↓</a:t>
            </a:r>
          </a:p>
          <a:p>
            <a:pPr marL="0" indent="0">
              <a:buNone/>
            </a:pPr>
            <a:r>
              <a:rPr lang="en-IN" sz="1600" dirty="0"/>
              <a:t>Feature Processing</a:t>
            </a:r>
          </a:p>
          <a:p>
            <a:pPr marL="0" indent="0">
              <a:buNone/>
            </a:pPr>
            <a:r>
              <a:rPr lang="en-IN" sz="1600" dirty="0"/>
              <a:t>    ↓</a:t>
            </a:r>
          </a:p>
          <a:p>
            <a:pPr marL="0" indent="0">
              <a:buNone/>
            </a:pPr>
            <a:r>
              <a:rPr lang="en-IN" sz="1600" dirty="0"/>
              <a:t>Digital Readiness Score</a:t>
            </a:r>
          </a:p>
          <a:p>
            <a:pPr marL="0" indent="0">
              <a:buNone/>
            </a:pPr>
            <a:r>
              <a:rPr lang="en-IN" sz="1600" dirty="0"/>
              <a:t>    ↓</a:t>
            </a:r>
          </a:p>
          <a:p>
            <a:pPr marL="0" indent="0">
              <a:buNone/>
            </a:pPr>
            <a:r>
              <a:rPr lang="en-IN" sz="1600" dirty="0"/>
              <a:t>Digital Gap Identification</a:t>
            </a:r>
          </a:p>
          <a:p>
            <a:pPr marL="0" indent="0">
              <a:buNone/>
            </a:pPr>
            <a:r>
              <a:rPr lang="en-IN" sz="1600" dirty="0"/>
              <a:t>    ↓</a:t>
            </a:r>
          </a:p>
          <a:p>
            <a:pPr marL="0" indent="0">
              <a:buNone/>
            </a:pPr>
            <a:r>
              <a:rPr lang="en-IN" sz="1600" dirty="0"/>
              <a:t>Budget Optimizer</a:t>
            </a:r>
          </a:p>
          <a:p>
            <a:pPr marL="0" indent="0">
              <a:buNone/>
            </a:pPr>
            <a:r>
              <a:rPr lang="en-IN" sz="1600" dirty="0"/>
              <a:t>    ↓</a:t>
            </a:r>
          </a:p>
          <a:p>
            <a:pPr marL="0" indent="0">
              <a:buNone/>
            </a:pPr>
            <a:r>
              <a:rPr lang="en-IN" sz="1600" dirty="0"/>
              <a:t>Recommended Solutions</a:t>
            </a:r>
          </a:p>
          <a:p>
            <a:pPr marL="0" indent="0">
              <a:buNone/>
            </a:pPr>
            <a:r>
              <a:rPr lang="en-IN" sz="1600" dirty="0"/>
              <a:t>    ↓</a:t>
            </a:r>
          </a:p>
          <a:p>
            <a:pPr marL="0" indent="0">
              <a:buNone/>
            </a:pPr>
            <a:r>
              <a:rPr lang="en-IN" sz="1600" dirty="0"/>
              <a:t>3-Phase Roadmap</a:t>
            </a:r>
          </a:p>
          <a:p>
            <a:pPr marL="0" indent="0">
              <a:buNone/>
            </a:pPr>
            <a:r>
              <a:rPr lang="en-IN" sz="1600" dirty="0"/>
              <a:t>    ↓</a:t>
            </a:r>
          </a:p>
          <a:p>
            <a:pPr marL="0" indent="0">
              <a:buNone/>
            </a:pPr>
            <a:r>
              <a:rPr lang="en-IN" sz="1600" dirty="0"/>
              <a:t>Shopkeeper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9F9030-EA73-D32D-2C27-3560919FD0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sz="1600" b="1" dirty="0"/>
              <a:t>Example</a:t>
            </a:r>
          </a:p>
          <a:p>
            <a:r>
              <a:rPr lang="en-IN" sz="1600" b="1" dirty="0"/>
              <a:t>Budget:</a:t>
            </a:r>
            <a:r>
              <a:rPr lang="en-IN" sz="1600" dirty="0"/>
              <a:t> ₹5,000</a:t>
            </a:r>
            <a:br>
              <a:rPr lang="en-IN" sz="1600" dirty="0"/>
            </a:br>
            <a:r>
              <a:rPr lang="en-IN" sz="1600" b="1" dirty="0"/>
              <a:t>Readiness:</a:t>
            </a:r>
            <a:r>
              <a:rPr lang="en-IN" sz="1600" dirty="0"/>
              <a:t> 38/100</a:t>
            </a:r>
          </a:p>
          <a:p>
            <a:pPr marL="0" indent="0">
              <a:buNone/>
            </a:pPr>
            <a:r>
              <a:rPr lang="en-IN" sz="1600" dirty="0"/>
              <a:t>	↓		</a:t>
            </a:r>
          </a:p>
          <a:p>
            <a:r>
              <a:rPr lang="en-IN" sz="1600" dirty="0"/>
              <a:t>System identifies major gaps</a:t>
            </a:r>
          </a:p>
          <a:p>
            <a:pPr marL="0" indent="0">
              <a:buNone/>
            </a:pPr>
            <a:r>
              <a:rPr lang="en-IN" sz="1600" dirty="0"/>
              <a:t>	↓</a:t>
            </a:r>
          </a:p>
          <a:p>
            <a:r>
              <a:rPr lang="en-IN" sz="1600" dirty="0"/>
              <a:t>Selects suitable interventions</a:t>
            </a:r>
          </a:p>
          <a:p>
            <a:pPr marL="0" indent="0">
              <a:buNone/>
            </a:pPr>
            <a:r>
              <a:rPr lang="en-IN" sz="1600" dirty="0"/>
              <a:t>	↓</a:t>
            </a:r>
          </a:p>
          <a:p>
            <a:r>
              <a:rPr lang="en-IN" sz="1600" dirty="0"/>
              <a:t>Generates:</a:t>
            </a:r>
          </a:p>
          <a:p>
            <a:r>
              <a:rPr lang="en-IN" sz="1600" b="1" dirty="0"/>
              <a:t>Phase 1 → ₹0</a:t>
            </a:r>
            <a:br>
              <a:rPr lang="en-IN" sz="1600" dirty="0"/>
            </a:br>
            <a:r>
              <a:rPr lang="en-IN" sz="1600" b="1" dirty="0"/>
              <a:t>Phase 2 → ₹1,500</a:t>
            </a:r>
            <a:br>
              <a:rPr lang="en-IN" sz="1600" dirty="0"/>
            </a:br>
            <a:r>
              <a:rPr lang="en-IN" sz="1600" b="1" dirty="0"/>
              <a:t>Phase 3 → ₹3,500</a:t>
            </a:r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59922675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ED6B1D-BAB4-487F-5865-754308BF3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Database Schemas 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A664FC8-F95A-CC3D-6A9B-F14D91284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11200" y="1428135"/>
            <a:ext cx="10566400" cy="4770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277474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1A33-00AC-3F65-9F9D-C14962ADC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6C2623-68A4-38F7-5653-12DDBE7742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Approach Used</a:t>
            </a:r>
          </a:p>
          <a:p>
            <a:pPr marL="0" indent="0">
              <a:buNone/>
            </a:pPr>
            <a:endParaRPr lang="en-IN" sz="1600" b="1" dirty="0"/>
          </a:p>
          <a:p>
            <a:r>
              <a:rPr lang="en-IN" sz="1600" b="1" dirty="0"/>
              <a:t>01 — Data Collection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Collect information from local businesses through a questionnaire.</a:t>
            </a:r>
          </a:p>
          <a:p>
            <a:pPr marL="0" indent="0">
              <a:buNone/>
            </a:pPr>
            <a:r>
              <a:rPr lang="en-IN" sz="1600" dirty="0"/>
              <a:t>		↓</a:t>
            </a:r>
          </a:p>
          <a:p>
            <a:r>
              <a:rPr lang="en-IN" sz="1600" b="1" dirty="0"/>
              <a:t>02 — Data Processing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Convert answers into numerical/categorical features.</a:t>
            </a:r>
          </a:p>
          <a:p>
            <a:pPr marL="0" indent="0">
              <a:buNone/>
            </a:pPr>
            <a:r>
              <a:rPr lang="en-IN" sz="1600" dirty="0"/>
              <a:t>		↓</a:t>
            </a:r>
          </a:p>
          <a:p>
            <a:r>
              <a:rPr lang="en-IN" sz="1600" b="1" dirty="0"/>
              <a:t>03 — Readiness Assessment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ML model calculates the Digital Readiness Index.</a:t>
            </a:r>
          </a:p>
          <a:p>
            <a:pPr marL="0" indent="0">
              <a:buNone/>
            </a:pPr>
            <a:r>
              <a:rPr lang="en-IN" sz="1600" dirty="0"/>
              <a:t>		↓</a:t>
            </a:r>
          </a:p>
          <a:p>
            <a:r>
              <a:rPr lang="en-IN" sz="1600" b="1" dirty="0"/>
              <a:t>04 — Gap Identification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Find areas where the business needs digital improvement.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130C74-6A70-EC09-A8C7-412CAE314A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600" dirty="0"/>
              <a:t>		↓</a:t>
            </a:r>
          </a:p>
          <a:p>
            <a:r>
              <a:rPr lang="en-IN" sz="1600" b="1" dirty="0"/>
              <a:t>05 — Budget Optimization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C++ algorithm selects the best combination of solutions.</a:t>
            </a:r>
          </a:p>
          <a:p>
            <a:pPr marL="0" indent="0">
              <a:buNone/>
            </a:pPr>
            <a:r>
              <a:rPr lang="en-IN" sz="1600" dirty="0"/>
              <a:t>		↓</a:t>
            </a:r>
          </a:p>
          <a:p>
            <a:r>
              <a:rPr lang="en-IN" sz="1600" b="1" dirty="0"/>
              <a:t>06 — Roadmap Generation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Solutions are arranged into different phases.</a:t>
            </a:r>
          </a:p>
          <a:p>
            <a:pPr marL="0" indent="0">
              <a:buNone/>
            </a:pPr>
            <a:r>
              <a:rPr lang="en-IN" sz="1600" dirty="0"/>
              <a:t>		↓</a:t>
            </a:r>
          </a:p>
          <a:p>
            <a:r>
              <a:rPr lang="en-IN" sz="1600" b="1" dirty="0"/>
              <a:t>07 — User Display</a:t>
            </a:r>
            <a:endParaRPr lang="en-IN" sz="1600" dirty="0"/>
          </a:p>
          <a:p>
            <a:r>
              <a:rPr lang="en-IN" sz="1600" dirty="0"/>
              <a:t>Simple Hindi/Hinglish explanation is shown.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5692295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IN" dirty="0"/>
              <a:t>Digital Readiness Logic</a:t>
            </a:r>
            <a:endParaRPr lang="en-US" spc="0" dirty="0">
              <a:latin typeface="+mj-lt"/>
            </a:endParaRPr>
          </a:p>
        </p:txBody>
      </p:sp>
      <p:sp>
        <p:nvSpPr>
          <p:cNvPr id="4" name="任意多边形: 形状 3"/>
          <p:cNvSpPr/>
          <p:nvPr>
            <p:custDataLst>
              <p:tags r:id="rId3"/>
            </p:custDataLst>
          </p:nvPr>
        </p:nvSpPr>
        <p:spPr>
          <a:xfrm rot="10800000">
            <a:off x="6380994" y="2767513"/>
            <a:ext cx="5604527" cy="3751273"/>
          </a:xfrm>
          <a:custGeom>
            <a:avLst/>
            <a:gdLst>
              <a:gd name="connsiteX0" fmla="*/ 2584395 w 2695478"/>
              <a:gd name="connsiteY0" fmla="*/ 1854489 h 1854489"/>
              <a:gd name="connsiteX1" fmla="*/ 111083 w 2695478"/>
              <a:gd name="connsiteY1" fmla="*/ 1854489 h 1854489"/>
              <a:gd name="connsiteX2" fmla="*/ 0 w 2695478"/>
              <a:gd name="connsiteY2" fmla="*/ 1743406 h 1854489"/>
              <a:gd name="connsiteX3" fmla="*/ 0 w 2695478"/>
              <a:gd name="connsiteY3" fmla="*/ 362180 h 1854489"/>
              <a:gd name="connsiteX4" fmla="*/ 111083 w 2695478"/>
              <a:gd name="connsiteY4" fmla="*/ 251097 h 1854489"/>
              <a:gd name="connsiteX5" fmla="*/ 1139340 w 2695478"/>
              <a:gd name="connsiteY5" fmla="*/ 251097 h 1854489"/>
              <a:gd name="connsiteX6" fmla="*/ 1347740 w 2695478"/>
              <a:gd name="connsiteY6" fmla="*/ 0 h 1854489"/>
              <a:gd name="connsiteX7" fmla="*/ 1556139 w 2695478"/>
              <a:gd name="connsiteY7" fmla="*/ 251097 h 1854489"/>
              <a:gd name="connsiteX8" fmla="*/ 2584395 w 2695478"/>
              <a:gd name="connsiteY8" fmla="*/ 251097 h 1854489"/>
              <a:gd name="connsiteX9" fmla="*/ 2695478 w 2695478"/>
              <a:gd name="connsiteY9" fmla="*/ 362180 h 1854489"/>
              <a:gd name="connsiteX10" fmla="*/ 2695478 w 2695478"/>
              <a:gd name="connsiteY10" fmla="*/ 1743406 h 1854489"/>
              <a:gd name="connsiteX11" fmla="*/ 2584395 w 2695478"/>
              <a:gd name="connsiteY11" fmla="*/ 1854489 h 1854489"/>
              <a:gd name="connsiteX0-1" fmla="*/ 2584395 w 2695478"/>
              <a:gd name="connsiteY0-2" fmla="*/ 1865811 h 1865811"/>
              <a:gd name="connsiteX1-3" fmla="*/ 111083 w 2695478"/>
              <a:gd name="connsiteY1-4" fmla="*/ 1865811 h 1865811"/>
              <a:gd name="connsiteX2-5" fmla="*/ 0 w 2695478"/>
              <a:gd name="connsiteY2-6" fmla="*/ 1754728 h 1865811"/>
              <a:gd name="connsiteX3-7" fmla="*/ 0 w 2695478"/>
              <a:gd name="connsiteY3-8" fmla="*/ 373502 h 1865811"/>
              <a:gd name="connsiteX4-9" fmla="*/ 111083 w 2695478"/>
              <a:gd name="connsiteY4-10" fmla="*/ 262419 h 1865811"/>
              <a:gd name="connsiteX5-11" fmla="*/ 1139340 w 2695478"/>
              <a:gd name="connsiteY5-12" fmla="*/ 262419 h 1865811"/>
              <a:gd name="connsiteX6-13" fmla="*/ 1575299 w 2695478"/>
              <a:gd name="connsiteY6-14" fmla="*/ 0 h 1865811"/>
              <a:gd name="connsiteX7-15" fmla="*/ 1556139 w 2695478"/>
              <a:gd name="connsiteY7-16" fmla="*/ 262419 h 1865811"/>
              <a:gd name="connsiteX8-17" fmla="*/ 2584395 w 2695478"/>
              <a:gd name="connsiteY8-18" fmla="*/ 262419 h 1865811"/>
              <a:gd name="connsiteX9-19" fmla="*/ 2695478 w 2695478"/>
              <a:gd name="connsiteY9-20" fmla="*/ 373502 h 1865811"/>
              <a:gd name="connsiteX10-21" fmla="*/ 2695478 w 2695478"/>
              <a:gd name="connsiteY10-22" fmla="*/ 1754728 h 1865811"/>
              <a:gd name="connsiteX11-23" fmla="*/ 2584395 w 2695478"/>
              <a:gd name="connsiteY11-24" fmla="*/ 1865811 h 186581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</a:cxnLst>
            <a:rect l="l" t="t" r="r" b="b"/>
            <a:pathLst>
              <a:path w="2695478" h="1865811">
                <a:moveTo>
                  <a:pt x="2584395" y="1865811"/>
                </a:moveTo>
                <a:lnTo>
                  <a:pt x="111083" y="1865811"/>
                </a:lnTo>
                <a:cubicBezTo>
                  <a:pt x="49734" y="1865811"/>
                  <a:pt x="0" y="1816077"/>
                  <a:pt x="0" y="1754728"/>
                </a:cubicBezTo>
                <a:lnTo>
                  <a:pt x="0" y="373502"/>
                </a:lnTo>
                <a:cubicBezTo>
                  <a:pt x="0" y="312153"/>
                  <a:pt x="49734" y="262419"/>
                  <a:pt x="111083" y="262419"/>
                </a:cubicBezTo>
                <a:lnTo>
                  <a:pt x="1139340" y="262419"/>
                </a:lnTo>
                <a:lnTo>
                  <a:pt x="1575299" y="0"/>
                </a:lnTo>
                <a:lnTo>
                  <a:pt x="1556139" y="262419"/>
                </a:lnTo>
                <a:lnTo>
                  <a:pt x="2584395" y="262419"/>
                </a:lnTo>
                <a:cubicBezTo>
                  <a:pt x="2645744" y="262419"/>
                  <a:pt x="2695478" y="312153"/>
                  <a:pt x="2695478" y="373502"/>
                </a:cubicBezTo>
                <a:lnTo>
                  <a:pt x="2695478" y="1754728"/>
                </a:lnTo>
                <a:cubicBezTo>
                  <a:pt x="2695478" y="1816077"/>
                  <a:pt x="2645744" y="1865811"/>
                  <a:pt x="2584395" y="1865811"/>
                </a:cubicBezTo>
                <a:close/>
              </a:path>
            </a:pathLst>
          </a:custGeom>
          <a:solidFill>
            <a:schemeClr val="lt1">
              <a:lumMod val="40000"/>
              <a:lumOff val="60000"/>
              <a:alpha val="15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6772534" y="3311936"/>
            <a:ext cx="4809866" cy="229792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IN" sz="1600" b="1" dirty="0"/>
              <a:t>Digital Readiness Index</a:t>
            </a:r>
            <a:endParaRPr lang="en-IN" sz="1600" dirty="0"/>
          </a:p>
          <a:p>
            <a:r>
              <a:rPr lang="en-IN" sz="1600" dirty="0"/>
              <a:t>0 ───── 25 ───── 50 ───── 75 ───── 100</a:t>
            </a:r>
          </a:p>
          <a:p>
            <a:r>
              <a:rPr lang="en-IN" sz="1600" dirty="0"/>
              <a:t> Low          Basic          Developing       Advanced</a:t>
            </a:r>
          </a:p>
          <a:p>
            <a:endParaRPr lang="en-IN" sz="1600" dirty="0"/>
          </a:p>
          <a:p>
            <a:r>
              <a:rPr lang="en-IN" sz="1600" dirty="0"/>
              <a:t>Example:</a:t>
            </a:r>
          </a:p>
          <a:p>
            <a:r>
              <a:rPr lang="en-IN" sz="1600" b="1" dirty="0"/>
              <a:t>DRI = 38.2 / 100</a:t>
            </a:r>
          </a:p>
          <a:p>
            <a:endParaRPr lang="en-IN" sz="1600" dirty="0"/>
          </a:p>
          <a:p>
            <a:r>
              <a:rPr lang="en-IN" sz="1600" dirty="0"/>
              <a:t>→ </a:t>
            </a:r>
            <a:r>
              <a:rPr lang="en-IN" sz="1600" b="1" dirty="0"/>
              <a:t>Foundational Digital Readiness</a:t>
            </a:r>
            <a:endParaRPr lang="en-IN" sz="1600" dirty="0"/>
          </a:p>
          <a:p>
            <a:r>
              <a:rPr lang="en-IN" sz="1600" dirty="0"/>
              <a:t>Your framework defines the DRI as a standardized score between 0 and 100. </a:t>
            </a:r>
          </a:p>
          <a:p>
            <a:pPr marL="0"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Shape 533"/>
          <p:cNvSpPr/>
          <p:nvPr>
            <p:custDataLst>
              <p:tags r:id="rId5"/>
            </p:custDataLst>
          </p:nvPr>
        </p:nvSpPr>
        <p:spPr>
          <a:xfrm>
            <a:off x="6856451" y="2927811"/>
            <a:ext cx="3809329" cy="571382"/>
          </a:xfrm>
          <a:prstGeom prst="rect">
            <a:avLst/>
          </a:prstGeom>
          <a:noFill/>
          <a:ln w="12700">
            <a:miter lim="400000"/>
          </a:ln>
        </p:spPr>
        <p:txBody>
          <a:bodyPr wrap="square" lIns="0" tIns="0" rIns="0" bIns="0" anchor="ctr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IN" sz="2400" b="1" dirty="0"/>
              <a:t>Output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2400" b="1" dirty="0">
              <a:solidFill>
                <a:schemeClr val="tx1"/>
              </a:solidFill>
              <a:latin typeface="+mj-lt"/>
              <a:sym typeface="+mn-ea"/>
            </a:endParaRPr>
          </a:p>
        </p:txBody>
      </p:sp>
      <p:sp>
        <p:nvSpPr>
          <p:cNvPr id="9" name="任意多边形: 形状 8"/>
          <p:cNvSpPr/>
          <p:nvPr>
            <p:custDataLst>
              <p:tags r:id="rId6"/>
            </p:custDataLst>
          </p:nvPr>
        </p:nvSpPr>
        <p:spPr>
          <a:xfrm rot="10800000">
            <a:off x="1218600" y="1748136"/>
            <a:ext cx="5431952" cy="3861727"/>
          </a:xfrm>
          <a:custGeom>
            <a:avLst/>
            <a:gdLst>
              <a:gd name="connsiteX0" fmla="*/ 2584395 w 2695478"/>
              <a:gd name="connsiteY0" fmla="*/ 1854489 h 1854489"/>
              <a:gd name="connsiteX1" fmla="*/ 111083 w 2695478"/>
              <a:gd name="connsiteY1" fmla="*/ 1854489 h 1854489"/>
              <a:gd name="connsiteX2" fmla="*/ 0 w 2695478"/>
              <a:gd name="connsiteY2" fmla="*/ 1743406 h 1854489"/>
              <a:gd name="connsiteX3" fmla="*/ 0 w 2695478"/>
              <a:gd name="connsiteY3" fmla="*/ 362180 h 1854489"/>
              <a:gd name="connsiteX4" fmla="*/ 111083 w 2695478"/>
              <a:gd name="connsiteY4" fmla="*/ 251097 h 1854489"/>
              <a:gd name="connsiteX5" fmla="*/ 1139340 w 2695478"/>
              <a:gd name="connsiteY5" fmla="*/ 251097 h 1854489"/>
              <a:gd name="connsiteX6" fmla="*/ 1347740 w 2695478"/>
              <a:gd name="connsiteY6" fmla="*/ 0 h 1854489"/>
              <a:gd name="connsiteX7" fmla="*/ 1556139 w 2695478"/>
              <a:gd name="connsiteY7" fmla="*/ 251097 h 1854489"/>
              <a:gd name="connsiteX8" fmla="*/ 2584395 w 2695478"/>
              <a:gd name="connsiteY8" fmla="*/ 251097 h 1854489"/>
              <a:gd name="connsiteX9" fmla="*/ 2695478 w 2695478"/>
              <a:gd name="connsiteY9" fmla="*/ 362180 h 1854489"/>
              <a:gd name="connsiteX10" fmla="*/ 2695478 w 2695478"/>
              <a:gd name="connsiteY10" fmla="*/ 1743406 h 1854489"/>
              <a:gd name="connsiteX11" fmla="*/ 2584395 w 2695478"/>
              <a:gd name="connsiteY11" fmla="*/ 1854489 h 1854489"/>
              <a:gd name="connsiteX0-1" fmla="*/ 2584395 w 2695478"/>
              <a:gd name="connsiteY0-2" fmla="*/ 1859172 h 1859172"/>
              <a:gd name="connsiteX1-3" fmla="*/ 111083 w 2695478"/>
              <a:gd name="connsiteY1-4" fmla="*/ 1859172 h 1859172"/>
              <a:gd name="connsiteX2-5" fmla="*/ 0 w 2695478"/>
              <a:gd name="connsiteY2-6" fmla="*/ 1748089 h 1859172"/>
              <a:gd name="connsiteX3-7" fmla="*/ 0 w 2695478"/>
              <a:gd name="connsiteY3-8" fmla="*/ 366863 h 1859172"/>
              <a:gd name="connsiteX4-9" fmla="*/ 111083 w 2695478"/>
              <a:gd name="connsiteY4-10" fmla="*/ 255780 h 1859172"/>
              <a:gd name="connsiteX5-11" fmla="*/ 1139340 w 2695478"/>
              <a:gd name="connsiteY5-12" fmla="*/ 255780 h 1859172"/>
              <a:gd name="connsiteX6-13" fmla="*/ 1043632 w 2695478"/>
              <a:gd name="connsiteY6-14" fmla="*/ 0 h 1859172"/>
              <a:gd name="connsiteX7-15" fmla="*/ 1556139 w 2695478"/>
              <a:gd name="connsiteY7-16" fmla="*/ 255780 h 1859172"/>
              <a:gd name="connsiteX8-17" fmla="*/ 2584395 w 2695478"/>
              <a:gd name="connsiteY8-18" fmla="*/ 255780 h 1859172"/>
              <a:gd name="connsiteX9-19" fmla="*/ 2695478 w 2695478"/>
              <a:gd name="connsiteY9-20" fmla="*/ 366863 h 1859172"/>
              <a:gd name="connsiteX10-21" fmla="*/ 2695478 w 2695478"/>
              <a:gd name="connsiteY10-22" fmla="*/ 1748089 h 1859172"/>
              <a:gd name="connsiteX11-23" fmla="*/ 2584395 w 2695478"/>
              <a:gd name="connsiteY11-24" fmla="*/ 1859172 h 18591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</a:cxnLst>
            <a:rect l="l" t="t" r="r" b="b"/>
            <a:pathLst>
              <a:path w="2695478" h="1859172">
                <a:moveTo>
                  <a:pt x="2584395" y="1859172"/>
                </a:moveTo>
                <a:lnTo>
                  <a:pt x="111083" y="1859172"/>
                </a:lnTo>
                <a:cubicBezTo>
                  <a:pt x="49734" y="1859172"/>
                  <a:pt x="0" y="1809438"/>
                  <a:pt x="0" y="1748089"/>
                </a:cubicBezTo>
                <a:lnTo>
                  <a:pt x="0" y="366863"/>
                </a:lnTo>
                <a:cubicBezTo>
                  <a:pt x="0" y="305514"/>
                  <a:pt x="49734" y="255780"/>
                  <a:pt x="111083" y="255780"/>
                </a:cubicBezTo>
                <a:lnTo>
                  <a:pt x="1139340" y="255780"/>
                </a:lnTo>
                <a:lnTo>
                  <a:pt x="1043632" y="0"/>
                </a:lnTo>
                <a:lnTo>
                  <a:pt x="1556139" y="255780"/>
                </a:lnTo>
                <a:lnTo>
                  <a:pt x="2584395" y="255780"/>
                </a:lnTo>
                <a:cubicBezTo>
                  <a:pt x="2645744" y="255780"/>
                  <a:pt x="2695478" y="305514"/>
                  <a:pt x="2695478" y="366863"/>
                </a:cubicBezTo>
                <a:lnTo>
                  <a:pt x="2695478" y="1748089"/>
                </a:lnTo>
                <a:cubicBezTo>
                  <a:pt x="2695478" y="1809438"/>
                  <a:pt x="2645744" y="1859172"/>
                  <a:pt x="2584395" y="1859172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50000">
                <a:schemeClr val="accent1">
                  <a:alpha val="100000"/>
                </a:schemeClr>
              </a:gs>
            </a:gsLst>
            <a:lin ang="13800000" scaled="0"/>
          </a:gradFill>
          <a:ln>
            <a:noFill/>
          </a:ln>
          <a:effectLst>
            <a:outerShdw blurRad="228600" dist="177800" dir="3780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4000" b="1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1694053" y="2381847"/>
            <a:ext cx="4481044" cy="18370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IN" sz="1600" dirty="0"/>
              <a:t>The system asks questions related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Digital payments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Online presence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WhatsApp usage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Product catalogue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Digital marketing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Technical confidence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Business goals </a:t>
            </a:r>
          </a:p>
          <a:p>
            <a:pPr lvl="0"/>
            <a:endParaRPr lang="en-IN" sz="1600" dirty="0"/>
          </a:p>
          <a:p>
            <a:r>
              <a:rPr lang="en-IN" sz="1600" dirty="0"/>
              <a:t>These answers are converted into features.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chemeClr val="lt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11" name="Shape 533"/>
          <p:cNvSpPr/>
          <p:nvPr>
            <p:custDataLst>
              <p:tags r:id="rId8"/>
            </p:custDataLst>
          </p:nvPr>
        </p:nvSpPr>
        <p:spPr>
          <a:xfrm>
            <a:off x="1681278" y="1775508"/>
            <a:ext cx="4493819" cy="690663"/>
          </a:xfrm>
          <a:prstGeom prst="rect">
            <a:avLst/>
          </a:prstGeom>
          <a:noFill/>
          <a:ln w="12700">
            <a:miter lim="400000"/>
          </a:ln>
        </p:spPr>
        <p:txBody>
          <a:bodyPr wrap="square" lIns="0" tIns="0" rIns="0" bIns="0" anchor="ctr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IN" sz="2800" b="1" dirty="0"/>
              <a:t>Digital Readiness Assessment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Optimization Algorithm</a:t>
            </a:r>
            <a:br>
              <a:rPr lang="en-IN" dirty="0"/>
            </a:br>
            <a:endParaRPr lang="en-US" alt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039BB5-5055-C596-1A4A-8528E0EB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858" y="1535113"/>
            <a:ext cx="5386917" cy="639762"/>
          </a:xfrm>
        </p:spPr>
        <p:txBody>
          <a:bodyPr/>
          <a:lstStyle/>
          <a:p>
            <a:r>
              <a:rPr lang="en-IN" dirty="0"/>
              <a:t>Multiple-Choice Knapsack Problem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3A35058-14FA-175A-3691-07C92D3B5CF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38867031"/>
              </p:ext>
            </p:extLst>
          </p:nvPr>
        </p:nvGraphicFramePr>
        <p:xfrm>
          <a:off x="6196014" y="2282995"/>
          <a:ext cx="5386386" cy="30166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462">
                  <a:extLst>
                    <a:ext uri="{9D8B030D-6E8A-4147-A177-3AD203B41FA5}">
                      <a16:colId xmlns:a16="http://schemas.microsoft.com/office/drawing/2014/main" val="1564370202"/>
                    </a:ext>
                  </a:extLst>
                </a:gridCol>
                <a:gridCol w="1795462">
                  <a:extLst>
                    <a:ext uri="{9D8B030D-6E8A-4147-A177-3AD203B41FA5}">
                      <a16:colId xmlns:a16="http://schemas.microsoft.com/office/drawing/2014/main" val="3843264197"/>
                    </a:ext>
                  </a:extLst>
                </a:gridCol>
                <a:gridCol w="1795462">
                  <a:extLst>
                    <a:ext uri="{9D8B030D-6E8A-4147-A177-3AD203B41FA5}">
                      <a16:colId xmlns:a16="http://schemas.microsoft.com/office/drawing/2014/main" val="2991370632"/>
                    </a:ext>
                  </a:extLst>
                </a:gridCol>
              </a:tblGrid>
              <a:tr h="475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Benefit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351729"/>
                  </a:ext>
                </a:extLst>
              </a:tr>
              <a:tr h="475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Profile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227293"/>
                  </a:ext>
                </a:extLst>
              </a:tr>
              <a:tr h="475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WhatsApp Catalogue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3344279"/>
                  </a:ext>
                </a:extLst>
              </a:tr>
              <a:tr h="475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Digital Catalogue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228651"/>
                  </a:ext>
                </a:extLst>
              </a:tr>
              <a:tr h="475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Website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₹3,500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0495045"/>
                  </a:ext>
                </a:extLst>
              </a:tr>
              <a:tr h="475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70443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28F7C0-6911-8586-8562-E8A042BAF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79226" y="1535113"/>
            <a:ext cx="5389033" cy="639762"/>
          </a:xfrm>
        </p:spPr>
        <p:txBody>
          <a:bodyPr/>
          <a:lstStyle/>
          <a:p>
            <a:r>
              <a:rPr lang="en-IN" dirty="0"/>
              <a:t>Available options: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232867"/>
          </a:xfrm>
        </p:spPr>
        <p:txBody>
          <a:bodyPr/>
          <a:lstStyle/>
          <a:p>
            <a:pPr marL="0" indent="0">
              <a:buNone/>
            </a:pPr>
            <a:endParaRPr lang="en-US" altLang="en-US" sz="2400" b="1" u="sng" dirty="0"/>
          </a:p>
          <a:p>
            <a:pPr marL="0" indent="0">
              <a:buNone/>
            </a:pPr>
            <a:endParaRPr lang="en-US" alt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4AA5C1-7451-7FD1-4556-4908593E85DC}"/>
              </a:ext>
            </a:extLst>
          </p:cNvPr>
          <p:cNvSpPr txBox="1"/>
          <p:nvPr/>
        </p:nvSpPr>
        <p:spPr>
          <a:xfrm>
            <a:off x="497190" y="2455606"/>
            <a:ext cx="524424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Suppose the shopkeeper has:</a:t>
            </a:r>
          </a:p>
          <a:p>
            <a:pPr>
              <a:buNone/>
            </a:pPr>
            <a:r>
              <a:rPr lang="en-IN" b="1" dirty="0"/>
              <a:t>Budget = ₹5,000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formal framework uses Dynamic Programming for the MCKP solver</a:t>
            </a:r>
          </a:p>
        </p:txBody>
      </p:sp>
      <p:sp>
        <p:nvSpPr>
          <p:cNvPr id="11" name="Callout: Right Arrow 10">
            <a:extLst>
              <a:ext uri="{FF2B5EF4-FFF2-40B4-BE49-F238E27FC236}">
                <a16:creationId xmlns:a16="http://schemas.microsoft.com/office/drawing/2014/main" id="{32C22AEE-404F-CC06-0276-013BD8FD0CB5}"/>
              </a:ext>
            </a:extLst>
          </p:cNvPr>
          <p:cNvSpPr/>
          <p:nvPr/>
        </p:nvSpPr>
        <p:spPr>
          <a:xfrm>
            <a:off x="591470" y="3224981"/>
            <a:ext cx="5055691" cy="792468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The algorithm selects the </a:t>
            </a:r>
            <a:r>
              <a:rPr lang="en-IN" b="1" dirty="0"/>
              <a:t>best combination within ₹5,000</a:t>
            </a:r>
            <a:r>
              <a:rPr lang="en-IN" dirty="0"/>
              <a:t>.</a:t>
            </a:r>
          </a:p>
        </p:txBody>
      </p:sp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EA3815E4-6248-59B4-2626-938A85B0505D}"/>
              </a:ext>
            </a:extLst>
          </p:cNvPr>
          <p:cNvSpPr/>
          <p:nvPr/>
        </p:nvSpPr>
        <p:spPr>
          <a:xfrm>
            <a:off x="609599" y="4284355"/>
            <a:ext cx="3883742" cy="1322536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b="1" dirty="0"/>
              <a:t>Simple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Maximum Business Benefit + Limited Budget + Literacy Requirement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1F89FB1-2D46-B56A-7557-1B0425936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&amp; SQL Mapping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8EABF5F-E27C-E400-3973-8B4DC3361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94414"/>
            <a:ext cx="5386917" cy="639762"/>
          </a:xfrm>
        </p:spPr>
        <p:txBody>
          <a:bodyPr/>
          <a:lstStyle/>
          <a:p>
            <a:r>
              <a:rPr lang="en-IN" sz="1800" dirty="0"/>
              <a:t>Optimization Logic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EA3C408-4E03-3771-C8D1-D62542763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02695"/>
            <a:ext cx="5386917" cy="3951288"/>
          </a:xfrm>
        </p:spPr>
        <p:txBody>
          <a:bodyPr/>
          <a:lstStyle/>
          <a:p>
            <a:r>
              <a:rPr lang="en-IN" sz="1600" dirty="0"/>
              <a:t>Input:</a:t>
            </a:r>
          </a:p>
          <a:p>
            <a:r>
              <a:rPr lang="en-IN" sz="1600" dirty="0"/>
              <a:t>Budget</a:t>
            </a:r>
          </a:p>
          <a:p>
            <a:r>
              <a:rPr lang="en-IN" sz="1600" dirty="0"/>
              <a:t>Business Needs</a:t>
            </a:r>
          </a:p>
          <a:p>
            <a:r>
              <a:rPr lang="en-IN" sz="1600" dirty="0"/>
              <a:t>Literacy Level</a:t>
            </a:r>
          </a:p>
          <a:p>
            <a:r>
              <a:rPr lang="en-IN" sz="1600" dirty="0"/>
              <a:t>Available Solutions</a:t>
            </a:r>
          </a:p>
          <a:p>
            <a:pPr marL="0" indent="0" algn="just">
              <a:buNone/>
            </a:pPr>
            <a:r>
              <a:rPr lang="en-IN" sz="1600" dirty="0"/>
              <a:t>       	 ↓</a:t>
            </a:r>
          </a:p>
          <a:p>
            <a:r>
              <a:rPr lang="en-IN" sz="1600" dirty="0"/>
              <a:t>Check eligible solutions</a:t>
            </a:r>
          </a:p>
          <a:p>
            <a:pPr marL="0" indent="0">
              <a:buNone/>
            </a:pPr>
            <a:r>
              <a:rPr lang="en-IN" sz="1600" dirty="0"/>
              <a:t>        	↓</a:t>
            </a:r>
          </a:p>
          <a:p>
            <a:r>
              <a:rPr lang="en-IN" sz="1600" dirty="0"/>
              <a:t>Compare Cost + Utility</a:t>
            </a:r>
          </a:p>
          <a:p>
            <a:pPr marL="0" indent="0">
              <a:buNone/>
            </a:pPr>
            <a:r>
              <a:rPr lang="en-IN" sz="1600" dirty="0"/>
              <a:t>       	 ↓</a:t>
            </a:r>
          </a:p>
          <a:p>
            <a:r>
              <a:rPr lang="en-IN" sz="1600" dirty="0"/>
              <a:t>Select Best Combination</a:t>
            </a:r>
          </a:p>
          <a:p>
            <a:pPr marL="0" indent="0">
              <a:buNone/>
            </a:pPr>
            <a:r>
              <a:rPr lang="en-IN" sz="1600" dirty="0"/>
              <a:t>        	↓</a:t>
            </a:r>
          </a:p>
          <a:p>
            <a:r>
              <a:rPr lang="en-IN" sz="1600" dirty="0"/>
              <a:t>Generate Roadmap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6B33E4-4862-23AE-0FEE-C774755CE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3367" y="1394414"/>
            <a:ext cx="5389033" cy="639762"/>
          </a:xfrm>
        </p:spPr>
        <p:txBody>
          <a:bodyPr/>
          <a:lstStyle/>
          <a:p>
            <a:r>
              <a:rPr lang="en-IN" sz="1800" dirty="0"/>
              <a:t>SQL Example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8FE1B88-C616-E45F-6451-C83C720A58C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SELECT </a:t>
            </a:r>
            <a:r>
              <a:rPr lang="en-US" sz="1800" dirty="0" err="1"/>
              <a:t>item_id</a:t>
            </a:r>
            <a:r>
              <a:rPr lang="en-US" sz="1800" dirty="0"/>
              <a:t>, </a:t>
            </a:r>
            <a:r>
              <a:rPr lang="en-US" sz="1800" dirty="0" err="1"/>
              <a:t>tier_name</a:t>
            </a:r>
            <a:r>
              <a:rPr lang="en-US" sz="1800" dirty="0"/>
              <a:t>, cost, </a:t>
            </a:r>
            <a:r>
              <a:rPr lang="en-US" sz="1800" dirty="0" err="1"/>
              <a:t>utility_score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interventions_catalog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WHERE </a:t>
            </a:r>
            <a:r>
              <a:rPr lang="en-US" sz="1800" dirty="0" err="1"/>
              <a:t>category_id</a:t>
            </a:r>
            <a:r>
              <a:rPr lang="en-US" sz="1800" dirty="0"/>
              <a:t> = :</a:t>
            </a:r>
            <a:r>
              <a:rPr lang="en-US" sz="1800" dirty="0" err="1"/>
              <a:t>cat_id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AND </a:t>
            </a:r>
            <a:r>
              <a:rPr lang="en-US" sz="1800" dirty="0" err="1"/>
              <a:t>min_literacy_req</a:t>
            </a:r>
            <a:r>
              <a:rPr lang="en-US" sz="1800" dirty="0"/>
              <a:t> &lt;= :</a:t>
            </a:r>
            <a:r>
              <a:rPr lang="en-US" sz="1800" dirty="0" err="1"/>
              <a:t>user_literacy</a:t>
            </a:r>
            <a:r>
              <a:rPr lang="en-US" sz="1800" dirty="0"/>
              <a:t>;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73228010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1110" y="1391265"/>
            <a:ext cx="5384800" cy="491998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sz="2400" b="1" u="sng" dirty="0"/>
              <a:t>Software &amp; Programming</a:t>
            </a:r>
            <a:endParaRPr lang="en-US" altLang="en-US" sz="1800" dirty="0"/>
          </a:p>
          <a:p>
            <a:r>
              <a:rPr lang="en-IN" sz="1600" b="1" dirty="0"/>
              <a:t>Python 3.11+</a:t>
            </a:r>
            <a:br>
              <a:rPr lang="en-IN" sz="1600" dirty="0"/>
            </a:br>
            <a:r>
              <a:rPr lang="en-IN" sz="1600" dirty="0"/>
              <a:t>ML + Backend</a:t>
            </a:r>
          </a:p>
          <a:p>
            <a:r>
              <a:rPr lang="en-IN" sz="1600" b="1" dirty="0"/>
              <a:t>C++20</a:t>
            </a:r>
            <a:br>
              <a:rPr lang="en-IN" sz="1600" dirty="0"/>
            </a:br>
            <a:r>
              <a:rPr lang="en-IN" sz="1600" dirty="0"/>
              <a:t>Optimization Algorithm</a:t>
            </a:r>
          </a:p>
          <a:p>
            <a:r>
              <a:rPr lang="en-IN" sz="1600" b="1" dirty="0"/>
              <a:t>MySQL</a:t>
            </a:r>
            <a:br>
              <a:rPr lang="en-IN" sz="1600" dirty="0"/>
            </a:br>
            <a:r>
              <a:rPr lang="en-IN" sz="1600" dirty="0"/>
              <a:t>Database</a:t>
            </a:r>
            <a:endParaRPr lang="en-IN" sz="2400" dirty="0"/>
          </a:p>
          <a:p>
            <a:pPr marL="0" indent="0">
              <a:buNone/>
            </a:pPr>
            <a:r>
              <a:rPr lang="en-IN" sz="2400" b="1" u="sng" dirty="0"/>
              <a:t>Frameworks &amp; Libraries</a:t>
            </a:r>
          </a:p>
          <a:p>
            <a:pPr lvl="0"/>
            <a:r>
              <a:rPr lang="en-IN" sz="1600" dirty="0" err="1"/>
              <a:t>FastAPI</a:t>
            </a:r>
            <a:r>
              <a:rPr lang="en-IN" sz="1600" dirty="0"/>
              <a:t> </a:t>
            </a:r>
          </a:p>
          <a:p>
            <a:pPr lvl="0"/>
            <a:r>
              <a:rPr lang="en-IN" sz="1600" dirty="0"/>
              <a:t>Scikit-learn </a:t>
            </a:r>
          </a:p>
          <a:p>
            <a:pPr lvl="0"/>
            <a:r>
              <a:rPr lang="en-IN" sz="1600" dirty="0"/>
              <a:t>Pandas </a:t>
            </a:r>
          </a:p>
          <a:p>
            <a:pPr lvl="0"/>
            <a:r>
              <a:rPr lang="en-IN" sz="1600" dirty="0"/>
              <a:t>NumPy </a:t>
            </a:r>
          </a:p>
          <a:p>
            <a:pPr lvl="0"/>
            <a:r>
              <a:rPr lang="en-IN" sz="1600" dirty="0" err="1"/>
              <a:t>TextBlob</a:t>
            </a:r>
            <a:r>
              <a:rPr lang="en-IN" sz="1600" dirty="0"/>
              <a:t> / NLTK </a:t>
            </a:r>
          </a:p>
          <a:p>
            <a:pPr lvl="0"/>
            <a:r>
              <a:rPr lang="en-IN" sz="1600" dirty="0" err="1"/>
              <a:t>SQLAlchemy</a:t>
            </a:r>
            <a:r>
              <a:rPr lang="en-IN" sz="1600" dirty="0"/>
              <a:t> </a:t>
            </a:r>
          </a:p>
          <a:p>
            <a:pPr lvl="0"/>
            <a:r>
              <a:rPr lang="en-IN" sz="1600" dirty="0"/>
              <a:t>pybind11 </a:t>
            </a:r>
          </a:p>
          <a:p>
            <a:endParaRPr lang="en-US" altLang="en-US" sz="1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15065"/>
            <a:ext cx="5384800" cy="507238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sz="2400" b="1" u="sng" dirty="0">
                <a:sym typeface="+mn-ea"/>
              </a:rPr>
              <a:t>Hardware Requirements</a:t>
            </a:r>
            <a:endParaRPr lang="en-US" altLang="en-US" sz="2400" b="1" u="sng" dirty="0"/>
          </a:p>
          <a:p>
            <a:pPr>
              <a:lnSpc>
                <a:spcPct val="100000"/>
              </a:lnSpc>
            </a:pPr>
            <a:r>
              <a:rPr lang="en-US" altLang="en-US" sz="1800" dirty="0">
                <a:sym typeface="+mn-ea"/>
              </a:rPr>
              <a:t>Intel i5 / Ryzen 5 or above</a:t>
            </a:r>
            <a:endParaRPr lang="en-US" altLang="en-US" sz="1800" dirty="0"/>
          </a:p>
          <a:p>
            <a:r>
              <a:rPr lang="en-US" altLang="en-US" sz="1800" dirty="0">
                <a:sym typeface="+mn-ea"/>
              </a:rPr>
              <a:t>8GB–16GB RAM</a:t>
            </a:r>
            <a:endParaRPr lang="en-US" altLang="en-US" sz="1800" dirty="0"/>
          </a:p>
          <a:p>
            <a:r>
              <a:rPr lang="en-US" altLang="en-US" sz="1800" dirty="0">
                <a:sym typeface="+mn-ea"/>
              </a:rPr>
              <a:t>256GB SSD or higher</a:t>
            </a:r>
          </a:p>
          <a:p>
            <a:pPr marL="0" indent="0">
              <a:buNone/>
            </a:pPr>
            <a:endParaRPr lang="en-US" altLang="en-US" sz="1800" dirty="0">
              <a:sym typeface="+mn-ea"/>
            </a:endParaRPr>
          </a:p>
          <a:p>
            <a:pPr marL="0" indent="0">
              <a:buNone/>
            </a:pPr>
            <a:r>
              <a:rPr lang="en-IN" sz="2400" b="1" u="sng" dirty="0"/>
              <a:t>Frontend</a:t>
            </a:r>
          </a:p>
          <a:p>
            <a:pPr lvl="0"/>
            <a:r>
              <a:rPr lang="en-IN" sz="1800" dirty="0"/>
              <a:t>HTML </a:t>
            </a:r>
          </a:p>
          <a:p>
            <a:pPr lvl="0"/>
            <a:r>
              <a:rPr lang="en-IN" sz="1800" dirty="0"/>
              <a:t>CSS </a:t>
            </a:r>
          </a:p>
          <a:p>
            <a:pPr lvl="0"/>
            <a:r>
              <a:rPr lang="en-IN" sz="1800" dirty="0"/>
              <a:t>JavaScript </a:t>
            </a:r>
          </a:p>
          <a:p>
            <a:pPr lvl="0"/>
            <a:r>
              <a:rPr lang="en-IN" sz="1800" dirty="0"/>
              <a:t>PWA </a:t>
            </a:r>
          </a:p>
          <a:p>
            <a:pPr lvl="0"/>
            <a:r>
              <a:rPr lang="en-IN" sz="1800" dirty="0"/>
              <a:t>Plotly.js</a:t>
            </a:r>
          </a:p>
          <a:p>
            <a:pPr lvl="0"/>
            <a:endParaRPr lang="en-US" altLang="en-US" sz="1800" dirty="0">
              <a:sym typeface="+mn-ea"/>
            </a:endParaRPr>
          </a:p>
          <a:p>
            <a:pPr marL="0" indent="0">
              <a:buNone/>
            </a:pPr>
            <a:r>
              <a:rPr lang="en-US" altLang="en-US" sz="2400" b="1" u="sng" dirty="0">
                <a:sym typeface="+mn-ea"/>
              </a:rPr>
              <a:t>Development Tools</a:t>
            </a:r>
            <a:endParaRPr lang="en-US" altLang="en-US" sz="1800" b="1" u="sng" dirty="0"/>
          </a:p>
          <a:p>
            <a:pPr>
              <a:lnSpc>
                <a:spcPct val="100000"/>
              </a:lnSpc>
            </a:pPr>
            <a:r>
              <a:rPr lang="en-US" altLang="en-US" sz="1800" dirty="0">
                <a:sym typeface="+mn-ea"/>
              </a:rPr>
              <a:t>VS Code</a:t>
            </a:r>
            <a:endParaRPr lang="en-US" altLang="en-US" sz="1800" dirty="0"/>
          </a:p>
          <a:p>
            <a:r>
              <a:rPr lang="en-US" altLang="en-US" sz="1800" dirty="0">
                <a:sym typeface="+mn-ea"/>
              </a:rPr>
              <a:t>Git &amp; GitHub</a:t>
            </a:r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Implementation / Project Modules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32765" y="1346835"/>
            <a:ext cx="5384800" cy="503364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b="1" u="sng" dirty="0"/>
              <a:t>Modules Developed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Module 1 — Business Data Collection</a:t>
            </a:r>
            <a:endParaRPr lang="en-IN" sz="1600" dirty="0"/>
          </a:p>
          <a:p>
            <a:r>
              <a:rPr lang="en-IN" sz="1600" dirty="0"/>
              <a:t>Collects and processes business information.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Module 2 — Readiness Assessment</a:t>
            </a:r>
            <a:endParaRPr lang="en-IN" sz="1600" dirty="0"/>
          </a:p>
          <a:p>
            <a:r>
              <a:rPr lang="en-IN" sz="1600" dirty="0"/>
              <a:t>Calculates the Digital Readiness Index.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Module 3 — Budget Optimizer</a:t>
            </a:r>
            <a:endParaRPr lang="en-IN" sz="1600" dirty="0"/>
          </a:p>
          <a:p>
            <a:r>
              <a:rPr lang="en-IN" sz="1600" dirty="0"/>
              <a:t>Finds the best solutions according to budget.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Module 4 — Roadmap Generator</a:t>
            </a:r>
            <a:endParaRPr lang="en-IN" sz="1600" dirty="0"/>
          </a:p>
          <a:p>
            <a:r>
              <a:rPr lang="en-IN" sz="1600" dirty="0"/>
              <a:t>Creates a simple 3-phase digital roadmap.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Module 5 — District Analytics</a:t>
            </a:r>
            <a:endParaRPr lang="en-IN" sz="1600" dirty="0"/>
          </a:p>
          <a:p>
            <a:r>
              <a:rPr lang="en-IN" sz="1600" dirty="0"/>
              <a:t>Shows aggregated digital readiness trends.</a:t>
            </a:r>
          </a:p>
          <a:p>
            <a:r>
              <a:rPr lang="en-IN" sz="1600" dirty="0"/>
              <a:t>These are the five modules defined in the framework</a:t>
            </a:r>
          </a:p>
          <a:p>
            <a:pPr marL="0" indent="0">
              <a:buNone/>
            </a:pPr>
            <a:endParaRPr lang="en-US" altLang="en-US" sz="1600" b="1" u="sng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30290" y="1346836"/>
            <a:ext cx="53848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Model will be evaluated using MAE and R².</a:t>
            </a:r>
            <a:endParaRPr lang="en-US" altLang="en-US" sz="2400" b="1" u="sng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ED95-EFD0-4FB6-E0C2-6DAD8026C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&amp;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3D09F-8B21-C2BB-8B5D-744FF78C6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442885"/>
            <a:ext cx="5384800" cy="5029199"/>
          </a:xfrm>
        </p:spPr>
        <p:txBody>
          <a:bodyPr/>
          <a:lstStyle/>
          <a:p>
            <a:r>
              <a:rPr lang="en-IN" sz="1600" b="1" dirty="0"/>
              <a:t>01 — Unit Testing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Test </a:t>
            </a:r>
            <a:r>
              <a:rPr lang="en-IN" sz="1600" dirty="0" err="1"/>
              <a:t>FastAPI</a:t>
            </a:r>
            <a:r>
              <a:rPr lang="en-IN" sz="1600" dirty="0"/>
              <a:t> endpoints and database operations.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02 — ML Testing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Check model prediction accuracy.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03 — Algorithm Testing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Check whether selected solutions remain within budget.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04 — Integration Testing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Check communication between:</a:t>
            </a:r>
          </a:p>
          <a:p>
            <a:pPr marL="0" indent="0">
              <a:buNone/>
            </a:pPr>
            <a:r>
              <a:rPr lang="en-IN" sz="1600" b="1" dirty="0"/>
              <a:t>Frontend → API → ML → C++ → Database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05 — Performance Testing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Measure response time.</a:t>
            </a:r>
          </a:p>
          <a:p>
            <a:pPr marL="0" indent="0">
              <a:buNone/>
            </a:pPr>
            <a:r>
              <a:rPr lang="en-IN" sz="1600" dirty="0"/>
              <a:t>Your framework proposes unit, model, algorithm and performance testing. 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94124470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57CC-D829-FEE9-E314-6106375EB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1AE94-8375-DC24-D874-2D5859D28B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b="1" dirty="0"/>
              <a:t>DIGIMITRA ASSESSMENT</a:t>
            </a:r>
          </a:p>
          <a:p>
            <a:pPr marL="0" indent="0">
              <a:buNone/>
            </a:pPr>
            <a:endParaRPr lang="en-IN" sz="1600" b="1" dirty="0"/>
          </a:p>
          <a:p>
            <a:r>
              <a:rPr lang="en-IN" sz="1600" dirty="0"/>
              <a:t>Business: Sharma Handicrafts</a:t>
            </a:r>
          </a:p>
          <a:p>
            <a:endParaRPr lang="en-IN" sz="1600" dirty="0"/>
          </a:p>
          <a:p>
            <a:r>
              <a:rPr lang="en-IN" sz="1600" dirty="0"/>
              <a:t>Digital Readiness: 38.2 / 100</a:t>
            </a:r>
          </a:p>
          <a:p>
            <a:endParaRPr lang="en-IN" sz="1600" dirty="0"/>
          </a:p>
          <a:p>
            <a:r>
              <a:rPr lang="en-IN" sz="1600" dirty="0"/>
              <a:t>Readiness Level: Foundational</a:t>
            </a:r>
          </a:p>
          <a:p>
            <a:endParaRPr lang="en-IN" sz="1600" dirty="0"/>
          </a:p>
          <a:p>
            <a:r>
              <a:rPr lang="en-IN" sz="1600" dirty="0"/>
              <a:t>Budget: ₹5,000</a:t>
            </a:r>
          </a:p>
          <a:p>
            <a:endParaRPr lang="en-IN" sz="1600" dirty="0"/>
          </a:p>
          <a:p>
            <a:r>
              <a:rPr lang="en-IN" sz="1600" dirty="0"/>
              <a:t>Literacy Index: 2.3 / 5</a:t>
            </a:r>
          </a:p>
          <a:p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2D8A2-7744-9759-DD98-BA0CC15FEB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b="1" dirty="0"/>
              <a:t>Recommended Roadmap</a:t>
            </a:r>
          </a:p>
          <a:p>
            <a:pPr marL="0" indent="0">
              <a:buNone/>
            </a:pPr>
            <a:endParaRPr lang="en-IN" sz="18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Phase 1 — ₹0</a:t>
            </a:r>
            <a:endParaRPr lang="en-IN" sz="1600" dirty="0"/>
          </a:p>
          <a:p>
            <a:pPr lvl="0"/>
            <a:r>
              <a:rPr lang="en-IN" sz="1600" dirty="0"/>
              <a:t>Google Business Profile </a:t>
            </a:r>
          </a:p>
          <a:p>
            <a:pPr lvl="0"/>
            <a:r>
              <a:rPr lang="en-IN" sz="1600" dirty="0"/>
              <a:t>WhatsApp Business </a:t>
            </a:r>
          </a:p>
          <a:p>
            <a:pPr lvl="0"/>
            <a:r>
              <a:rPr lang="en-IN" sz="1600" dirty="0"/>
              <a:t>UPI QR </a:t>
            </a:r>
          </a:p>
          <a:p>
            <a:pPr lvl="0"/>
            <a:endParaRPr lang="en-IN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Phase 2 — ₹1,500</a:t>
            </a:r>
            <a:endParaRPr lang="en-IN" sz="1600" dirty="0"/>
          </a:p>
          <a:p>
            <a:pPr lvl="0"/>
            <a:r>
              <a:rPr lang="en-IN" sz="1600" dirty="0"/>
              <a:t>Digital Catalogue </a:t>
            </a:r>
          </a:p>
          <a:p>
            <a:pPr lvl="0"/>
            <a:r>
              <a:rPr lang="en-IN" sz="1600" dirty="0"/>
              <a:t>Local SEO </a:t>
            </a:r>
          </a:p>
          <a:p>
            <a:pPr lvl="0"/>
            <a:endParaRPr lang="en-IN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Phase 3 — ₹3,500</a:t>
            </a:r>
            <a:endParaRPr lang="en-IN" sz="1600" dirty="0"/>
          </a:p>
          <a:p>
            <a:pPr lvl="0"/>
            <a:r>
              <a:rPr lang="en-IN" sz="1600" dirty="0"/>
              <a:t>Bilingual Landing Page </a:t>
            </a:r>
          </a:p>
          <a:p>
            <a:pPr lvl="0"/>
            <a:r>
              <a:rPr lang="en-IN" sz="1600" dirty="0"/>
              <a:t>WhatsApp Ordering </a:t>
            </a:r>
          </a:p>
          <a:p>
            <a:r>
              <a:rPr lang="en-IN" sz="1600" b="1" dirty="0"/>
              <a:t>Total = ₹5,000</a:t>
            </a:r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281197691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Roles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b="1" u="sng" dirty="0"/>
              <a:t>Roles &amp; Responsibilities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b="1" u="sng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800" b="1" dirty="0"/>
              <a:t>Team Member Name:</a:t>
            </a:r>
            <a:r>
              <a:rPr lang="en-US" altLang="en-US" sz="1800" dirty="0"/>
              <a:t> </a:t>
            </a:r>
            <a:r>
              <a:rPr lang="en-US" altLang="en-US" sz="1800" b="1" dirty="0"/>
              <a:t>Chahat Modi</a:t>
            </a:r>
            <a:endParaRPr lang="en-US" altLang="en-US" sz="1800" dirty="0"/>
          </a:p>
          <a:p>
            <a:r>
              <a:rPr lang="en-IN" sz="1600" dirty="0"/>
              <a:t>Research &amp; problem identification </a:t>
            </a:r>
          </a:p>
          <a:p>
            <a:r>
              <a:rPr lang="en-IN" sz="1600" dirty="0"/>
              <a:t>Dataset/questionnaire preparation </a:t>
            </a:r>
          </a:p>
          <a:p>
            <a:r>
              <a:rPr lang="en-IN" sz="1600" dirty="0"/>
              <a:t>ML model development </a:t>
            </a:r>
          </a:p>
          <a:p>
            <a:r>
              <a:rPr lang="en-IN" sz="1600" dirty="0"/>
              <a:t>C++ optimization algorithm </a:t>
            </a:r>
          </a:p>
          <a:p>
            <a:r>
              <a:rPr lang="en-IN" sz="1600" dirty="0"/>
              <a:t>Backend development </a:t>
            </a:r>
          </a:p>
          <a:p>
            <a:r>
              <a:rPr lang="en-IN" sz="1600" dirty="0"/>
              <a:t>MySQL database </a:t>
            </a:r>
          </a:p>
          <a:p>
            <a:r>
              <a:rPr lang="en-IN" sz="1600" dirty="0"/>
              <a:t>Frontend/PWA development </a:t>
            </a:r>
          </a:p>
          <a:p>
            <a:r>
              <a:rPr lang="en-IN" sz="1600" dirty="0"/>
              <a:t>Testing &amp; debugging </a:t>
            </a:r>
          </a:p>
          <a:p>
            <a:r>
              <a:rPr lang="en-IN" sz="1600" dirty="0"/>
              <a:t>Documentation &amp; presentation</a:t>
            </a:r>
          </a:p>
          <a:p>
            <a:endParaRPr lang="en-US" altLang="en-US" sz="18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4177B-E9DB-954F-16AD-25294C4B2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1347E-0380-9764-82B0-2548C9DE7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1600" dirty="0" err="1"/>
              <a:t>DigiMitra</a:t>
            </a:r>
            <a:r>
              <a:rPr lang="en-IN" sz="1600" dirty="0"/>
              <a:t> helps small businesses understand their digital needs </a:t>
            </a:r>
          </a:p>
          <a:p>
            <a:pPr lvl="0"/>
            <a:r>
              <a:rPr lang="en-IN" sz="1600" dirty="0"/>
              <a:t>It measures their current digital readiness </a:t>
            </a:r>
          </a:p>
          <a:p>
            <a:pPr lvl="0"/>
            <a:r>
              <a:rPr lang="en-IN" sz="1600" dirty="0"/>
              <a:t>It considers their budget and technical ability </a:t>
            </a:r>
          </a:p>
          <a:p>
            <a:pPr lvl="0"/>
            <a:r>
              <a:rPr lang="en-IN" sz="1600" dirty="0"/>
              <a:t>It recommends suitable digital solutions </a:t>
            </a:r>
          </a:p>
          <a:p>
            <a:pPr lvl="0"/>
            <a:r>
              <a:rPr lang="en-IN" sz="1600" dirty="0"/>
              <a:t>It provides a simple step-by-step roadmap </a:t>
            </a:r>
          </a:p>
          <a:p>
            <a:pPr lvl="0"/>
            <a:r>
              <a:rPr lang="en-IN" sz="1600" dirty="0"/>
              <a:t>It combines </a:t>
            </a:r>
            <a:r>
              <a:rPr lang="en-IN" sz="1600" b="1" dirty="0"/>
              <a:t>AI + Optimization + Web Technology + Database</a:t>
            </a:r>
            <a:r>
              <a:rPr lang="en-IN" sz="1600" dirty="0"/>
              <a:t> </a:t>
            </a:r>
          </a:p>
          <a:p>
            <a:pPr marL="0" indent="0">
              <a:buNone/>
            </a:pPr>
            <a:r>
              <a:rPr lang="en-IN" sz="1600" b="1" dirty="0"/>
              <a:t>Core Idea</a:t>
            </a:r>
          </a:p>
        </p:txBody>
      </p:sp>
      <p:sp>
        <p:nvSpPr>
          <p:cNvPr id="4" name="Minus Sign 3">
            <a:extLst>
              <a:ext uri="{FF2B5EF4-FFF2-40B4-BE49-F238E27FC236}">
                <a16:creationId xmlns:a16="http://schemas.microsoft.com/office/drawing/2014/main" id="{91B17F58-4136-7C4A-9A2A-48685C86C46D}"/>
              </a:ext>
            </a:extLst>
          </p:cNvPr>
          <p:cNvSpPr/>
          <p:nvPr/>
        </p:nvSpPr>
        <p:spPr>
          <a:xfrm>
            <a:off x="894735" y="2949677"/>
            <a:ext cx="9920749" cy="3510117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“Don't sell technology to the business. First understand the business, then recommend the right technology.”</a:t>
            </a:r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57938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Limitations &amp; Future Scope</a:t>
            </a:r>
          </a:p>
        </p:txBody>
      </p:sp>
      <p:sp>
        <p:nvSpPr>
          <p:cNvPr id="5" name="矩形 2"/>
          <p:cNvSpPr/>
          <p:nvPr>
            <p:custDataLst>
              <p:tags r:id="rId3"/>
            </p:custDataLst>
          </p:nvPr>
        </p:nvSpPr>
        <p:spPr>
          <a:xfrm>
            <a:off x="913810" y="1600435"/>
            <a:ext cx="4596707" cy="1179889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7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01</a:t>
            </a:r>
          </a:p>
        </p:txBody>
      </p:sp>
      <p:cxnSp>
        <p:nvCxnSpPr>
          <p:cNvPr id="20" name="直接连接符 19"/>
          <p:cNvCxnSpPr/>
          <p:nvPr>
            <p:custDataLst>
              <p:tags r:id="rId4"/>
            </p:custDataLst>
          </p:nvPr>
        </p:nvCxnSpPr>
        <p:spPr>
          <a:xfrm>
            <a:off x="913810" y="2928088"/>
            <a:ext cx="4487441" cy="0"/>
          </a:xfrm>
          <a:prstGeom prst="line">
            <a:avLst/>
          </a:prstGeom>
          <a:ln w="1270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4"/>
          <p:cNvSpPr/>
          <p:nvPr>
            <p:custDataLst>
              <p:tags r:id="rId5"/>
            </p:custDataLst>
          </p:nvPr>
        </p:nvSpPr>
        <p:spPr>
          <a:xfrm>
            <a:off x="913810" y="3142165"/>
            <a:ext cx="4598198" cy="45677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1"/>
                </a:solidFill>
                <a:latin typeface="+mj-lt"/>
              </a:rPr>
              <a:t>Limitations</a:t>
            </a:r>
          </a:p>
        </p:txBody>
      </p:sp>
      <p:sp>
        <p:nvSpPr>
          <p:cNvPr id="9" name="矩形 5"/>
          <p:cNvSpPr/>
          <p:nvPr>
            <p:custDataLst>
              <p:tags r:id="rId6"/>
            </p:custDataLst>
          </p:nvPr>
        </p:nvSpPr>
        <p:spPr>
          <a:xfrm>
            <a:off x="913810" y="3682754"/>
            <a:ext cx="4597748" cy="2205023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Initial dataset may be limited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dirty="0"/>
            </a:br>
            <a:r>
              <a:rPr lang="en-IN" dirty="0"/>
              <a:t>Recommendations depend on survey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dirty="0"/>
            </a:br>
            <a:r>
              <a:rPr lang="en-IN" dirty="0"/>
              <a:t>ML performance improves with more real-world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dirty="0"/>
            </a:br>
            <a:r>
              <a:rPr lang="en-IN" dirty="0"/>
              <a:t>Vernacular NLP may have limitations</a:t>
            </a:r>
          </a:p>
        </p:txBody>
      </p:sp>
      <p:sp>
        <p:nvSpPr>
          <p:cNvPr id="19" name="矩形 6"/>
          <p:cNvSpPr/>
          <p:nvPr>
            <p:custDataLst>
              <p:tags r:id="rId7"/>
            </p:custDataLst>
          </p:nvPr>
        </p:nvSpPr>
        <p:spPr>
          <a:xfrm>
            <a:off x="6679890" y="1600435"/>
            <a:ext cx="4596708" cy="1179889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7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02</a:t>
            </a:r>
          </a:p>
        </p:txBody>
      </p:sp>
      <p:cxnSp>
        <p:nvCxnSpPr>
          <p:cNvPr id="21" name="直接连接符 10"/>
          <p:cNvCxnSpPr/>
          <p:nvPr>
            <p:custDataLst>
              <p:tags r:id="rId8"/>
            </p:custDataLst>
          </p:nvPr>
        </p:nvCxnSpPr>
        <p:spPr>
          <a:xfrm>
            <a:off x="6679890" y="2928088"/>
            <a:ext cx="4487441" cy="0"/>
          </a:xfrm>
          <a:prstGeom prst="line">
            <a:avLst/>
          </a:prstGeom>
          <a:ln w="12700">
            <a:solidFill>
              <a:schemeClr val="accent2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矩形 8"/>
          <p:cNvSpPr/>
          <p:nvPr>
            <p:custDataLst>
              <p:tags r:id="rId9"/>
            </p:custDataLst>
          </p:nvPr>
        </p:nvSpPr>
        <p:spPr>
          <a:xfrm>
            <a:off x="6679890" y="3142165"/>
            <a:ext cx="4598198" cy="45677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2"/>
                </a:solidFill>
                <a:latin typeface="+mj-lt"/>
              </a:rPr>
              <a:t>Future Enhancements</a:t>
            </a:r>
          </a:p>
        </p:txBody>
      </p:sp>
      <p:sp>
        <p:nvSpPr>
          <p:cNvPr id="23" name="矩形 13"/>
          <p:cNvSpPr/>
          <p:nvPr>
            <p:custDataLst>
              <p:tags r:id="rId10"/>
            </p:custDataLst>
          </p:nvPr>
        </p:nvSpPr>
        <p:spPr>
          <a:xfrm>
            <a:off x="6679890" y="3682754"/>
            <a:ext cx="4597748" cy="2205023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Voice-based assistant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More regional languages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ONDC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Local service-provider marketplace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Advanced business prediction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1600" b="1" dirty="0"/>
          </a:p>
          <a:p>
            <a:pPr lvl="0"/>
            <a:r>
              <a:rPr lang="en-IN" sz="1600" dirty="0"/>
              <a:t>Mittal et al. (2018) — Digital maturity models and SMEs </a:t>
            </a:r>
          </a:p>
          <a:p>
            <a:pPr lvl="0"/>
            <a:r>
              <a:rPr lang="en-IN" sz="1600" dirty="0" err="1"/>
              <a:t>Garzoni</a:t>
            </a:r>
            <a:r>
              <a:rPr lang="en-IN" sz="1600" dirty="0"/>
              <a:t> et al. (2020) — Digital transformation in SMEs </a:t>
            </a:r>
          </a:p>
          <a:p>
            <a:pPr lvl="0"/>
            <a:r>
              <a:rPr lang="en-IN" sz="1600" dirty="0"/>
              <a:t>Kellerer, </a:t>
            </a:r>
            <a:r>
              <a:rPr lang="en-IN" sz="1600" dirty="0" err="1"/>
              <a:t>Pferschy</a:t>
            </a:r>
            <a:r>
              <a:rPr lang="en-IN" sz="1600" dirty="0"/>
              <a:t> &amp; </a:t>
            </a:r>
            <a:r>
              <a:rPr lang="en-IN" sz="1600" dirty="0" err="1"/>
              <a:t>Pisinger</a:t>
            </a:r>
            <a:r>
              <a:rPr lang="en-IN" sz="1600" dirty="0"/>
              <a:t> (2004) — Knapsack Problems </a:t>
            </a:r>
          </a:p>
          <a:p>
            <a:pPr lvl="0"/>
            <a:r>
              <a:rPr lang="en-IN" sz="1600" dirty="0" err="1"/>
              <a:t>Heeks</a:t>
            </a:r>
            <a:r>
              <a:rPr lang="en-IN" sz="1600" dirty="0"/>
              <a:t> (2002) — Information Systems and Developing Countries</a:t>
            </a:r>
          </a:p>
          <a:p>
            <a:pPr marL="0" indent="0">
              <a:buNone/>
            </a:pPr>
            <a:endParaRPr lang="en-US" alt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800" b="1" dirty="0"/>
              <a:t>THANK YOU </a:t>
            </a:r>
          </a:p>
          <a:p>
            <a:pPr marL="0" indent="0" algn="ctr">
              <a:buNone/>
            </a:pPr>
            <a:r>
              <a:rPr lang="en-US" sz="2800" b="1" dirty="0"/>
              <a:t>Open for discussion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44091-113A-CB8D-9FCD-8B7693E66AB4}"/>
              </a:ext>
            </a:extLst>
          </p:cNvPr>
          <p:cNvSpPr txBox="1"/>
          <p:nvPr/>
        </p:nvSpPr>
        <p:spPr>
          <a:xfrm>
            <a:off x="2946400" y="137160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 err="1"/>
              <a:t>DigiMitra</a:t>
            </a:r>
            <a:endParaRPr lang="en-IN" b="1" dirty="0"/>
          </a:p>
          <a:p>
            <a:pPr>
              <a:buNone/>
            </a:pPr>
            <a:r>
              <a:rPr lang="en-IN" b="1" dirty="0"/>
              <a:t>AI-Powered Digital Transformation for Local Businesses</a:t>
            </a:r>
            <a:endParaRPr lang="en-IN" dirty="0"/>
          </a:p>
          <a:p>
            <a:pPr>
              <a:buNone/>
            </a:pPr>
            <a:r>
              <a:rPr lang="en-IN" b="1" dirty="0"/>
              <a:t>Open for Discussion</a:t>
            </a: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8322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diagram"/>
  <p:tag name="KSO_WM_TEMPLATE_INDEX" val="20238322"/>
  <p:tag name="KSO_WM_SLIDE_TYPE" val="text"/>
  <p:tag name="KSO_WM_SLIDE_SUBTYPE" val="diag"/>
  <p:tag name="KSO_WM_SLIDE_SIZE" val="834.92*277.116"/>
  <p:tag name="KSO_WM_SLIDE_POSITION" val="64.8498*168.411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322_1*a*1"/>
  <p:tag name="KSO_WM_TEMPLATE_CATEGORY" val="diagram"/>
  <p:tag name="KSO_WM_TEMPLATE_INDEX" val="2023832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n1-1"/>
  <p:tag name="KSO_WM_UNIT_TYPE" val="a"/>
  <p:tag name="KSO_WM_UNIT_INDEX" val="1"/>
  <p:tag name="KSO_WM_UNIT_VALUE" val="29"/>
  <p:tag name="KSO_WM_UNIT_PRESET_TEXT" val="Your title here"/>
  <p:tag name="KSO_WM_UNIT_TEXT_FILL_FORE_SCHEMECOLOR_INDEX" val="14"/>
  <p:tag name="KSO_WM_UNIT_TEXT_FILL_TYPE" val="1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2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8322_1*n_h_h_f*1_2_2_1"/>
  <p:tag name="KSO_WM_TEMPLATE_CATEGORY" val="diagram"/>
  <p:tag name="KSO_WM_TEMPLATE_INDEX" val="20238322"/>
  <p:tag name="KSO_WM_UNIT_LAYERLEVEL" val="1_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09.05,&quot;left&quot;:56,&quot;top&quot;:96.7,&quot;width&quot;:863}"/>
  <p:tag name="KSO_WM_DIAGRAM_COLOR_MATCH_VALUE" val="{&quot;shape&quot;:{&quot;fill&quot;:{&quot;gradient&quot;:[{&quot;brightness&quot;:0.4000000059604645,&quot;colorType&quot;:1,&quot;foreColorIndex&quot;:5,&quot;pos&quot;:0.699999988079071,&quot;transparency&quot;:1},{&quot;brightness&quot;:0.4000000059604645,&quot;colorType&quot;:1,&quot;foreColorIndex&quot;:5,&quot;pos&quot;:0,&quot;transparency&quot;:0.69999998807907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2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8322_1*n_h_h_f*1_2_1_1"/>
  <p:tag name="KSO_WM_TEMPLATE_CATEGORY" val="diagram"/>
  <p:tag name="KSO_WM_TEMPLATE_INDEX" val="20238322"/>
  <p:tag name="KSO_WM_UNIT_LAYERLEVEL" val="1_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09.05,&quot;left&quot;:56,&quot;top&quot;:96.7,&quot;width&quot;:863}"/>
  <p:tag name="KSO_WM_DIAGRAM_COLOR_MATCH_VALUE" val="{&quot;shape&quot;:{&quot;fill&quot;:{&quot;gradient&quot;:[{&quot;brightness&quot;:0.4000000059604645,&quot;colorType&quot;:1,&quot;foreColorIndex&quot;:5,&quot;pos&quot;:0.30000001192092896,&quot;transparency&quot;:1},{&quot;brightness&quot;:0.4000000059604645,&quot;colorType&quot;:1,&quot;foreColorIndex&quot;:5,&quot;pos&quot;:1,&quot;transparency&quot;:0.69999998807907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5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8322_1*n_h_a*1_1_1"/>
  <p:tag name="KSO_WM_TEMPLATE_CATEGORY" val="diagram"/>
  <p:tag name="KSO_WM_TEMPLATE_INDEX" val="20238322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09.05,&quot;left&quot;:56,&quot;top&quot;:96.7,&quot;width&quot;:86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8432_1"/>
  <p:tag name="KSO_WM_TEMPLATE_SUBCATEGORY" val="0"/>
  <p:tag name="KSO_WM_TEMPLATE_MASTER_TYPE" val="0"/>
  <p:tag name="KSO_WM_TEMPLATE_COLOR_TYPE" val="0"/>
  <p:tag name="KSO_WM_SLIDE_ITEM_CNT" val="6"/>
  <p:tag name="KSO_WM_SLIDE_INDEX" val="1"/>
  <p:tag name="KSO_WM_TAG_VERSION" val="3.0"/>
  <p:tag name="KSO_WM_BEAUTIFY_FLAG" val="#wm#"/>
  <p:tag name="KSO_WM_TEMPLATE_CATEGORY" val="diagram"/>
  <p:tag name="KSO_WM_TEMPLATE_INDEX" val="20238432"/>
  <p:tag name="KSO_WM_SLIDE_TYPE" val="text"/>
  <p:tag name="KSO_WM_SLIDE_SUBTYPE" val="diag"/>
  <p:tag name="KSO_WM_SLIDE_SIZE" val="850.385*348.607"/>
  <p:tag name="KSO_WM_SLIDE_POSITION" val="55.2499*118.35"/>
  <p:tag name="KSO_WM_SLIDE_LAYOUT" val="a_q"/>
  <p:tag name="KSO_WM_SLIDE_LAYOUT_CNT" val="1_1"/>
  <p:tag name="KSO_WM_SPECIAL_SOURCE" val="bdnull"/>
  <p:tag name="KSO_WM_DIAGRAM_GROUP_CODE" val="q1-1"/>
  <p:tag name="KSO_WM_SLIDE_DIAGTYPE" val="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a"/>
  <p:tag name="KSO_WM_UNIT_INDEX" val="1"/>
  <p:tag name="KSO_WM_UNIT_ID" val="diagram20238432_1*a*1"/>
  <p:tag name="KSO_WM_TEMPLATE_CATEGORY" val="diagram"/>
  <p:tag name="KSO_WM_TEMPLATE_INDEX" val="20238432"/>
  <p:tag name="KSO_WM_UNIT_LAYERLEVEL" val="1"/>
  <p:tag name="KSO_WM_TAG_VERSION" val="3.0"/>
  <p:tag name="KSO_WM_BEAUTIFY_FLAG" val="#wm#"/>
  <p:tag name="KSO_WM_UNIT_VALUE" val="29"/>
  <p:tag name="KSO_WM_UNIT_PRESET_TEXT" val="Your title here"/>
  <p:tag name="KSO_WM_UNIT_TEXT_FILL_FORE_SCHEMECOLOR_INDEX" val="14"/>
  <p:tag name="KSO_WM_UNIT_TEXT_FILL_TYP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1"/>
  <p:tag name="KSO_WM_UNIT_ID" val="diagram20238432_1*q_h_i*1_2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.10000000149011612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1"/>
  <p:tag name="KSO_WM_UNIT_TEXT_FILL_FORE_SCHEMECOLOR_INDEX" val="13"/>
  <p:tag name="KSO_WM_UNIT_TEXT_FILL_TYPE" val="1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2"/>
  <p:tag name="KSO_WM_UNIT_ID" val="diagram20238432_1*q_h_i*1_1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1"/>
  <p:tag name="KSO_WM_UNIT_ID" val="diagram20238432_1*q_h_i*1_3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"/>
  <p:tag name="KSO_WM_UNIT_TEXT_FILL_FORE_SCHEMECOLOR_INDEX" val="13"/>
  <p:tag name="KSO_WM_UNIT_TEXT_FILL_TYPE" val="1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5_1"/>
  <p:tag name="KSO_WM_UNIT_ID" val="diagram20238432_1*q_h_i*1_5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"/>
  <p:tag name="KSO_WM_UNIT_TEXT_FILL_FORE_SCHEMECOLOR_INDEX" val="13"/>
  <p:tag name="KSO_WM_UNIT_TEXT_FILL_TYP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6_1"/>
  <p:tag name="KSO_WM_UNIT_ID" val="diagram20238432_1*q_h_i*1_6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.3000000119209289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3"/>
  <p:tag name="KSO_WM_UNIT_TEXT_FILL_FORE_SCHEMECOLOR_INDEX" val="13"/>
  <p:tag name="KSO_WM_UNIT_TEXT_FILL_TYPE" val="1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4_1"/>
  <p:tag name="KSO_WM_UNIT_ID" val="diagram20238432_1*q_h_i*1_4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.20000000298023224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2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91*81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5_1"/>
  <p:tag name="KSO_WM_UNIT_ID" val="diagram20238432_1*q_h_x*1_5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91*91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6_1"/>
  <p:tag name="KSO_WM_UNIT_ID" val="diagram20238432_1*q_h_x*1_6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91*78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4_1"/>
  <p:tag name="KSO_WM_UNIT_ID" val="diagram20238432_1*q_h_x*1_4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91*91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3_1"/>
  <p:tag name="KSO_WM_UNIT_ID" val="diagram20238432_1*q_h_x*1_3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91*81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1_1"/>
  <p:tag name="KSO_WM_UNIT_ID" val="diagram20238432_1*q_h_x*1_1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91*78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2_1"/>
  <p:tag name="KSO_WM_UNIT_ID" val="diagram20238432_1*q_h_x*1_2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3_1"/>
  <p:tag name="KSO_WM_UNIT_ID" val="diagram20238432_1*q_h_f*1_3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4_1"/>
  <p:tag name="KSO_WM_UNIT_ID" val="diagram20238432_1*q_h_f*1_4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1_1"/>
  <p:tag name="KSO_WM_UNIT_ID" val="diagram20238432_1*q_h_f*1_1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5_1"/>
  <p:tag name="KSO_WM_UNIT_ID" val="diagram20238432_1*q_h_f*1_5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2_1"/>
  <p:tag name="KSO_WM_UNIT_ID" val="diagram20238432_1*q_h_f*1_2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6_1"/>
  <p:tag name="KSO_WM_UNIT_ID" val="diagram20238432_1*q_h_f*1_6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238432_1*q_h_i*1_1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2"/>
  <p:tag name="KSO_WM_UNIT_ID" val="diagram20238432_1*q_h_i*1_3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solidLine&quot;:{&quot;brightness&quot;:0.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LINE_FILL_TYPE" val="2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5_2"/>
  <p:tag name="KSO_WM_UNIT_ID" val="diagram20238432_1*q_h_i*1_5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9"/>
  <p:tag name="KSO_WM_UNIT_LINE_FILL_TYPE" val="2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2"/>
  <p:tag name="KSO_WM_UNIT_ID" val="diagram20238432_1*q_h_i*1_2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solidLine&quot;:{&quot;brightness&quot;:0.10000000149011612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4_2"/>
  <p:tag name="KSO_WM_UNIT_ID" val="diagram20238432_1*q_h_i*1_4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solidLine&quot;:{&quot;brightness&quot;:0.20000000298023224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UNIT_LINE_FILL_TYPE" val="2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6_2"/>
  <p:tag name="KSO_WM_UNIT_ID" val="diagram20238432_1*q_h_i*1_6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solidLine&quot;:{&quot;brightness&quot;:0.30000001192092896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0"/>
  <p:tag name="KSO_WM_UNIT_LINE_FILL_TYPE" val="2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1_3"/>
  <p:tag name="KSO_WM_UNIT_ID" val="diagram20238432_1*q_h_i*1_1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6_3"/>
  <p:tag name="KSO_WM_UNIT_ID" val="diagram20238432_1*q_h_i*1_6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3"/>
  <p:tag name="KSO_WM_UNIT_TEXT_FILL_FORE_SCHEMECOLOR_INDEX" val="1"/>
  <p:tag name="KSO_WM_UNIT_TEXT_FILL_TYPE" val="1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5_3"/>
  <p:tag name="KSO_WM_UNIT_ID" val="diagram20238432_1*q_h_i*1_5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5"/>
  <p:tag name="KSO_WM_UNIT_TEXT_FILL_FORE_SCHEMECOLOR_INDEX" val="1"/>
  <p:tag name="KSO_WM_UNIT_TEXT_FILL_TYPE" val="1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2_3"/>
  <p:tag name="KSO_WM_UNIT_ID" val="diagram20238432_1*q_h_i*1_2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4_3"/>
  <p:tag name="KSO_WM_UNIT_ID" val="diagram20238432_1*q_h_i*1_4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4"/>
  <p:tag name="KSO_WM_UNIT_TEXT_FILL_FORE_SCHEMECOLOR_INDEX" val="1"/>
  <p:tag name="KSO_WM_UNIT_TEXT_FILL_TYPE" val="1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3_3"/>
  <p:tag name="KSO_WM_UNIT_ID" val="diagram20238432_1*q_h_i*1_3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6"/>
  <p:tag name="KSO_WM_UNIT_TEXT_FILL_FORE_SCHEMECOLOR_INDEX" val="1"/>
  <p:tag name="KSO_WM_UNIT_TEXT_FILL_TYPE" val="1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8202"/>
  <p:tag name="KSO_WM_SPECIAL_SOURCE" val="bdnull"/>
  <p:tag name="KSO_WM_SLIDE_ID" val="diagram2023820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TYPE" val="text"/>
  <p:tag name="KSO_WM_SLIDE_SUBTYPE" val="diag"/>
  <p:tag name="KSO_WM_SLIDE_SIZE" val="850.946*370.584"/>
  <p:tag name="KSO_WM_SLIDE_POSITION" val="54.9539*106.9"/>
  <p:tag name="KSO_WM_DIAGRAM_GROUP_CODE" val="l1-1"/>
  <p:tag name="KSO_WM_SLIDE_DIAGTYPE" val="l"/>
  <p:tag name="KSO_WM_SLIDE_LAYOUT" val="a_l"/>
  <p:tag name="KSO_WM_SLIDE_LAYOUT_CNT" val="1_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2_5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4"/>
  <p:tag name="KSO_WM_UNIT_TEXT_FILL_TYPE" val="1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4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202_4*l_h_f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4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4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4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4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2_4*l_h_i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4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4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4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831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8317"/>
  <p:tag name="KSO_WM_SLIDE_TYPE" val="text"/>
  <p:tag name="KSO_WM_SLIDE_SUBTYPE" val="diag"/>
  <p:tag name="KSO_WM_SLIDE_SIZE" val="815.964*364.438"/>
  <p:tag name="KSO_WM_SLIDE_POSITION" val="71.9535*112.564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17_3*a*1"/>
  <p:tag name="KSO_WM_TEMPLATE_CATEGORY" val="diagram"/>
  <p:tag name="KSO_WM_TEMPLATE_INDEX" val="20238317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4"/>
  <p:tag name="KSO_WM_UNIT_TEXT_FILL_TYPE" val="1"/>
  <p:tag name="KSO_WM_UNIT_USESOURCEFORMAT_APPL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8317_1*l_h_i*1_1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317_1*l_h_i*1_1_2"/>
  <p:tag name="KSO_WM_TEMPLATE_CATEGORY" val="diagram"/>
  <p:tag name="KSO_WM_TEMPLATE_INDEX" val="2023831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317_1*l_h_a*1_1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317_1*l_h_f*1_1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8317_1*l_h_i*1_2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17_1*l_h_i*1_2_2"/>
  <p:tag name="KSO_WM_TEMPLATE_CATEGORY" val="diagram"/>
  <p:tag name="KSO_WM_TEMPLATE_INDEX" val="2023831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317_1*l_h_a*1_2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317_1*l_h_f*1_2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diagram20238311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769.587*340.464"/>
  <p:tag name="KSO_WM_SLIDE_POSITION" val="95.9528*137.648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11"/>
  <p:tag name="KSO_WM_SLIDE_LAYOUT" val="a_l"/>
  <p:tag name="KSO_WM_SLIDE_LAYOUT_CNT" val="1_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11_1*a*1"/>
  <p:tag name="KSO_WM_TEMPLATE_CATEGORY" val="diagram"/>
  <p:tag name="KSO_WM_TEMPLATE_INDEX" val="20238311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4"/>
  <p:tag name="KSO_WM_UNIT_TEXT_FILL_TYPE" val="1"/>
  <p:tag name="KSO_WM_UNIT_USESOURCEFORMAT_APPL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2"/>
  <p:tag name="KSO_WM_DIAGRAM_MIN_ITEMCNT" val="2"/>
  <p:tag name="KSO_WM_DIAGRAM_VIRTUALLY_FRAME" val="{&quot;height&quot;:340.46441650390625,&quot;left&quot;:95.95275590551182,&quot;top&quot;:137.64850040946422,&quot;width&quot;:769.5872440944881}"/>
  <p:tag name="KSO_WM_DIAGRAM_COLOR_MATCH_VALUE" val="{&quot;shape&quot;:{&quot;fill&quot;:{&quot;solid&quot;:{&quot;brightness&quot;:0.6000000238418579,&quot;colorType&quot;:1,&quot;foreColorIndex&quot;:2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11_1*l_h_i*1_2_1"/>
  <p:tag name="KSO_WM_TEMPLATE_CATEGORY" val="diagram"/>
  <p:tag name="KSO_WM_TEMPLATE_INDEX" val="20238311"/>
  <p:tag name="KSO_WM_UNIT_LAYERLEVEL" val="1_1_1"/>
  <p:tag name="KSO_WM_TAG_VERSION" val="3.0"/>
  <p:tag name="KSO_WM_BEAUTIFY_FLAG" val="#wm#"/>
  <p:tag name="KSO_WM_UNIT_FILL_TYPE" val="1"/>
  <p:tag name="KSO_WM_UNIT_FILL_FORE_SCHEMECOLOR_INDEX" val="2"/>
  <p:tag name="KSO_WM_UNIT_FILL_FORE_SCHEMECOLOR_INDEX_BRIGHTNESS" val="0.6"/>
  <p:tag name="KSO_WM_UNIT_LINE_FORE_SCHEMECOLOR_INDEX" val="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DEC_AREA_ID" val="c37347cbc0a24348939d931e37367649"/>
  <p:tag name="KSO_WM_UNIT_DEFAULT_FONT" val="12;18;2"/>
  <p:tag name="KSO_WM_DIAGRAM_MAX_ITEMCNT" val="2"/>
  <p:tag name="KSO_WM_DIAGRAM_MIN_ITEMCNT" val="2"/>
  <p:tag name="KSO_WM_DIAGRAM_VIRTUALLY_FRAME" val="{&quot;height&quot;:340.46441650390625,&quot;left&quot;:95.95275590551182,&quot;top&quot;:137.64850040946422,&quot;width&quot;:769.58724409448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4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311_1*l_h_f*1_2_1"/>
  <p:tag name="KSO_WM_TEMPLATE_CATEGORY" val="diagram"/>
  <p:tag name="KSO_WM_TEMPLATE_INDEX" val="20238311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2"/>
  <p:tag name="KSO_WM_DIAGRAM_MIN_ITEMCNT" val="2"/>
  <p:tag name="KSO_WM_DIAGRAM_VIRTUALLY_FRAME" val="{&quot;height&quot;:340.46441650390625,&quot;left&quot;:95.95275590551182,&quot;top&quot;:137.64850040946422,&quot;width&quot;:769.58724409448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311_1*l_h_a*1_2_1"/>
  <p:tag name="KSO_WM_TEMPLATE_CATEGORY" val="diagram"/>
  <p:tag name="KSO_WM_TEMPLATE_INDEX" val="2023831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2"/>
  <p:tag name="KSO_WM_DIAGRAM_MIN_ITEMCNT" val="2"/>
  <p:tag name="KSO_WM_DIAGRAM_VIRTUALLY_FRAME" val="{&quot;height&quot;:340.46441650390625,&quot;left&quot;:95.95275590551182,&quot;top&quot;:137.64850040946422,&quot;width&quot;:769.5872440944881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11_1*l_h_i*1_1_1"/>
  <p:tag name="KSO_WM_TEMPLATE_CATEGORY" val="diagram"/>
  <p:tag name="KSO_WM_TEMPLATE_INDEX" val="20238311"/>
  <p:tag name="KSO_WM_UNIT_LAYERLEVEL" val="1_1_1"/>
  <p:tag name="KSO_WM_TAG_VERSION" val="3.0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DEC_AREA_ID" val="c37347cbc0a24348939d931e37367649"/>
  <p:tag name="KSO_WM_UNIT_DEFAULT_FONT" val="12;18;2"/>
  <p:tag name="KSO_WM_DIAGRAM_MAX_ITEMCNT" val="2"/>
  <p:tag name="KSO_WM_DIAGRAM_MIN_ITEMCNT" val="2"/>
  <p:tag name="KSO_WM_DIAGRAM_VIRTUALLY_FRAME" val="{&quot;height&quot;:340.46441650390625,&quot;left&quot;:95.95275590551182,&quot;top&quot;:137.64850040946422,&quot;width&quot;:769.58724409448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4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311_1*l_h_f*1_1_1"/>
  <p:tag name="KSO_WM_TEMPLATE_CATEGORY" val="diagram"/>
  <p:tag name="KSO_WM_TEMPLATE_INDEX" val="20238311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2"/>
  <p:tag name="KSO_WM_DIAGRAM_MIN_ITEMCNT" val="2"/>
  <p:tag name="KSO_WM_DIAGRAM_VIRTUALLY_FRAME" val="{&quot;height&quot;:340.46441650390625,&quot;left&quot;:95.95275590551182,&quot;top&quot;:137.64850040946422,&quot;width&quot;:769.58724409448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311_1*l_h_a*1_1_1"/>
  <p:tag name="KSO_WM_TEMPLATE_CATEGORY" val="diagram"/>
  <p:tag name="KSO_WM_TEMPLATE_INDEX" val="2023831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831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8317"/>
  <p:tag name="KSO_WM_SLIDE_TYPE" val="text"/>
  <p:tag name="KSO_WM_SLIDE_SUBTYPE" val="diag"/>
  <p:tag name="KSO_WM_SLIDE_SIZE" val="815.964*364.438"/>
  <p:tag name="KSO_WM_SLIDE_POSITION" val="71.9535*112.564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17_3*a*1"/>
  <p:tag name="KSO_WM_TEMPLATE_CATEGORY" val="diagram"/>
  <p:tag name="KSO_WM_TEMPLATE_INDEX" val="20238317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4"/>
  <p:tag name="KSO_WM_UNIT_TEXT_FILL_TYPE" val="1"/>
  <p:tag name="KSO_WM_UNIT_USESOURCEFORMAT_APPLY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8317_1*l_h_i*1_1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317_1*l_h_i*1_1_2"/>
  <p:tag name="KSO_WM_TEMPLATE_CATEGORY" val="diagram"/>
  <p:tag name="KSO_WM_TEMPLATE_INDEX" val="2023831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317_1*l_h_a*1_1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317_1*l_h_f*1_1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8317_1*l_h_i*1_2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17_1*l_h_i*1_2_2"/>
  <p:tag name="KSO_WM_TEMPLATE_CATEGORY" val="diagram"/>
  <p:tag name="KSO_WM_TEMPLATE_INDEX" val="2023831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317_1*l_h_a*1_2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317_1*l_h_f*1_2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5FBC5A4-1A1F-4992-B137-EB323014E9D0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1425</Words>
  <Application>Microsoft Office PowerPoint</Application>
  <PresentationFormat>Widescreen</PresentationFormat>
  <Paragraphs>411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Times New Roman</vt:lpstr>
      <vt:lpstr>Wingdings</vt:lpstr>
      <vt:lpstr>1_Office Theme</vt:lpstr>
      <vt:lpstr>PowerPoint Presentation</vt:lpstr>
      <vt:lpstr>Contents </vt:lpstr>
      <vt:lpstr>PowerPoint Presentation</vt:lpstr>
      <vt:lpstr>Introduction</vt:lpstr>
      <vt:lpstr>Problem Statement</vt:lpstr>
      <vt:lpstr>Objectives</vt:lpstr>
      <vt:lpstr>Literature Review</vt:lpstr>
      <vt:lpstr>Requirements</vt:lpstr>
      <vt:lpstr>System Architecture</vt:lpstr>
      <vt:lpstr>System Architecture &amp; Flow</vt:lpstr>
      <vt:lpstr>Data Flow Diagram</vt:lpstr>
      <vt:lpstr> Database Schemas </vt:lpstr>
      <vt:lpstr>Methodology</vt:lpstr>
      <vt:lpstr>Digital Readiness Logic</vt:lpstr>
      <vt:lpstr>Optimization Algorithm </vt:lpstr>
      <vt:lpstr>Algorithm &amp; SQL Mapping</vt:lpstr>
      <vt:lpstr>Tools &amp; Technologies</vt:lpstr>
      <vt:lpstr>Implementation / Project Modules </vt:lpstr>
      <vt:lpstr>Testing &amp; Verification</vt:lpstr>
      <vt:lpstr>Results &amp; Output</vt:lpstr>
      <vt:lpstr>Roles &amp; Responsibilities</vt:lpstr>
      <vt:lpstr>Conclusion</vt:lpstr>
      <vt:lpstr>Limitations &amp; 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robot</dc:creator>
  <cp:lastModifiedBy>Chahat Modi</cp:lastModifiedBy>
  <cp:revision>95</cp:revision>
  <dcterms:created xsi:type="dcterms:W3CDTF">2020-03-02T04:57:00Z</dcterms:created>
  <dcterms:modified xsi:type="dcterms:W3CDTF">2026-08-30T16:32:19Z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F19DDC44F34A482587549A85C772450C_12</vt:lpwstr>
  </property>
</Properties>
</file>